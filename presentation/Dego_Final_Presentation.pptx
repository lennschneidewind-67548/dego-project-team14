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0" r:id="rId4"/>
    <p:sldMasterId id="2147483707" r:id="rId5"/>
    <p:sldMasterId id="2147483695" r:id="rId6"/>
    <p:sldMasterId id="2147483676" r:id="rId7"/>
    <p:sldMasterId id="2147483742" r:id="rId8"/>
  </p:sldMasterIdLst>
  <p:notesMasterIdLst>
    <p:notesMasterId r:id="rId36"/>
  </p:notesMasterIdLst>
  <p:sldIdLst>
    <p:sldId id="260" r:id="rId9"/>
    <p:sldId id="307" r:id="rId10"/>
    <p:sldId id="308" r:id="rId11"/>
    <p:sldId id="309" r:id="rId12"/>
    <p:sldId id="310" r:id="rId13"/>
    <p:sldId id="311" r:id="rId14"/>
    <p:sldId id="312" r:id="rId15"/>
    <p:sldId id="314" r:id="rId16"/>
    <p:sldId id="304" r:id="rId17"/>
    <p:sldId id="284" r:id="rId18"/>
    <p:sldId id="285" r:id="rId19"/>
    <p:sldId id="287" r:id="rId20"/>
    <p:sldId id="288" r:id="rId21"/>
    <p:sldId id="289" r:id="rId22"/>
    <p:sldId id="291" r:id="rId23"/>
    <p:sldId id="292" r:id="rId24"/>
    <p:sldId id="293" r:id="rId25"/>
    <p:sldId id="295" r:id="rId26"/>
    <p:sldId id="296" r:id="rId27"/>
    <p:sldId id="277" r:id="rId28"/>
    <p:sldId id="278" r:id="rId29"/>
    <p:sldId id="280" r:id="rId30"/>
    <p:sldId id="281" r:id="rId31"/>
    <p:sldId id="283" r:id="rId32"/>
    <p:sldId id="266" r:id="rId33"/>
    <p:sldId id="270" r:id="rId34"/>
    <p:sldId id="269" r:id="rId3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Titles" id="{7189DF46-8202-474F-818B-9AB857826B11}">
          <p14:sldIdLst>
            <p14:sldId id="260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Content" id="{9B65405C-19D4-4C34-A937-FD814E5F1479}">
          <p14:sldIdLst>
            <p14:sldId id="314"/>
            <p14:sldId id="304"/>
            <p14:sldId id="284"/>
            <p14:sldId id="285"/>
            <p14:sldId id="287"/>
            <p14:sldId id="288"/>
            <p14:sldId id="289"/>
            <p14:sldId id="291"/>
            <p14:sldId id="292"/>
            <p14:sldId id="293"/>
            <p14:sldId id="295"/>
            <p14:sldId id="296"/>
          </p14:sldIdLst>
        </p14:section>
        <p14:section name="Quotes" id="{E9977FCA-352E-4ABA-AC95-694A2A0C0F21}">
          <p14:sldIdLst>
            <p14:sldId id="277"/>
            <p14:sldId id="278"/>
            <p14:sldId id="280"/>
            <p14:sldId id="281"/>
            <p14:sldId id="283"/>
          </p14:sldIdLst>
        </p14:section>
        <p14:section name="Closing Page" id="{CEC8B5F3-039C-47BE-9BC6-C2BB15000558}">
          <p14:sldIdLst>
            <p14:sldId id="266"/>
            <p14:sldId id="270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1A1A2E"/>
    <a:srgbClr val="F6F9FF"/>
    <a:srgbClr val="7D233D"/>
    <a:srgbClr val="F2F4F7"/>
    <a:srgbClr val="18497F"/>
    <a:srgbClr val="60A5FA"/>
    <a:srgbClr val="FBBF24"/>
    <a:srgbClr val="2DD4BF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8" autoAdjust="0"/>
    <p:restoredTop sz="91733" autoAdjust="0"/>
  </p:normalViewPr>
  <p:slideViewPr>
    <p:cSldViewPr snapToGrid="0">
      <p:cViewPr>
        <p:scale>
          <a:sx n="69" d="100"/>
          <a:sy n="69" d="100"/>
        </p:scale>
        <p:origin x="-984" y="-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theme" Target="theme/theme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897163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5893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20308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48632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36671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8473439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60" y="10180955"/>
            <a:ext cx="23081241" cy="1363663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15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" name="Line"/>
          <p:cNvSpPr/>
          <p:nvPr userDrawn="1"/>
        </p:nvSpPr>
        <p:spPr>
          <a:xfrm>
            <a:off x="22560529" y="1238474"/>
            <a:ext cx="1143392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0" y="72954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14150340" y="729702"/>
            <a:ext cx="9553581" cy="4436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DATE | CARCAVELOS CAMPUS 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11827995"/>
            <a:ext cx="24384000" cy="1370388"/>
            <a:chOff x="0" y="11827995"/>
            <a:chExt cx="24384000" cy="1370388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2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94810657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3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8473439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60" y="10180955"/>
            <a:ext cx="23081241" cy="1363663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15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" name="Line"/>
          <p:cNvSpPr/>
          <p:nvPr userDrawn="1"/>
        </p:nvSpPr>
        <p:spPr>
          <a:xfrm>
            <a:off x="22560529" y="1238474"/>
            <a:ext cx="1143392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0" y="72954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14150340" y="729702"/>
            <a:ext cx="9553581" cy="4436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DATE | CARCAVELOS CAMPUS </a:t>
            </a:r>
            <a:endParaRPr lang="en-GB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2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09266853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5377018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59" y="8496935"/>
            <a:ext cx="23081241" cy="784225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11620304" y="4802182"/>
            <a:ext cx="1143393" cy="1"/>
          </a:xfrm>
          <a:prstGeom prst="line">
            <a:avLst/>
          </a:prstGeom>
          <a:ln w="50800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38859" y="3976641"/>
            <a:ext cx="23081241" cy="501409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2900" b="0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1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6913289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5377018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59" y="8496935"/>
            <a:ext cx="23081241" cy="784225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/>
                <a:cs typeface="Open Sans Light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11620304" y="4802182"/>
            <a:ext cx="1143393" cy="1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38859" y="3976641"/>
            <a:ext cx="23081241" cy="501409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2900" b="0" i="0" u="none" strike="noStrike" cap="all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41491907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2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5377018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59" y="8496935"/>
            <a:ext cx="23081241" cy="784225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/>
                <a:cs typeface="Open Sans Light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11620304" y="4802182"/>
            <a:ext cx="1143393" cy="1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38859" y="3976641"/>
            <a:ext cx="23081241" cy="501409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2900" b="0" i="0" u="none" strike="noStrike" cap="all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2" name="Rectangle 11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3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06863417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7762" y="8247698"/>
            <a:ext cx="1143393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7762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0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6380159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8393" y="8247698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8393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3311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0" name="Rectangle 9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1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42633415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6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8393" y="8247698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8393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3311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0" name="Rectangle 9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1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4804947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7762" y="8247698"/>
            <a:ext cx="1143393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7762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6235533" y="8751054"/>
            <a:ext cx="7512387" cy="2169119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10" name="Line"/>
          <p:cNvSpPr/>
          <p:nvPr userDrawn="1"/>
        </p:nvSpPr>
        <p:spPr>
          <a:xfrm>
            <a:off x="16301318" y="8247698"/>
            <a:ext cx="7446603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1" name="Rectangle 10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1041918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8393" y="8247698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8393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3311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6235533" y="8751054"/>
            <a:ext cx="7512387" cy="2169119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10" name="Line"/>
          <p:cNvSpPr/>
          <p:nvPr userDrawn="1"/>
        </p:nvSpPr>
        <p:spPr>
          <a:xfrm>
            <a:off x="16301318" y="8247698"/>
            <a:ext cx="744660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2" name="Rectangle 11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4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01073260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0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8393" y="8247698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8393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3311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6235533" y="8751054"/>
            <a:ext cx="7512387" cy="2169119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10" name="Line"/>
          <p:cNvSpPr/>
          <p:nvPr userDrawn="1"/>
        </p:nvSpPr>
        <p:spPr>
          <a:xfrm>
            <a:off x="16301318" y="8247698"/>
            <a:ext cx="744660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2" name="Rectangle 11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4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8276790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1654686"/>
            <a:ext cx="22380194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4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322866C-2764-6018-2686-962A65BEF7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679" y="3151508"/>
            <a:ext cx="22380195" cy="8072920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163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1654686"/>
            <a:ext cx="22380194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4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322866C-2764-6018-2686-962A65BEF7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679" y="3151508"/>
            <a:ext cx="22380195" cy="8072920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31129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257774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6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49144097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4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257774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6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402525092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88296449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21085629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8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22304148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86802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86802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86802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2064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4096377673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920647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920647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920647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73274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40498264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2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920647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920647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920647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73274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9262161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3919931" y="2698909"/>
            <a:ext cx="9617645" cy="8431773"/>
          </a:xfrm>
          <a:prstGeom prst="rect">
            <a:avLst/>
          </a:prstGeom>
        </p:spPr>
        <p:txBody>
          <a:bodyPr/>
          <a:lstStyle>
            <a:lvl1pPr marL="0" marR="0" indent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9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0580757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31340" y="2759868"/>
            <a:ext cx="2226018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1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31340" y="1069650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251424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31340" y="2759868"/>
            <a:ext cx="2226018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31340" y="1069650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7110777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04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31340" y="2759868"/>
            <a:ext cx="2226018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31340" y="1069650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4354663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/>
          <p:cNvSpPr/>
          <p:nvPr userDrawn="1"/>
        </p:nvSpPr>
        <p:spPr>
          <a:xfrm>
            <a:off x="12301811" y="-77042"/>
            <a:ext cx="12082190" cy="1387008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411200" y="2759868"/>
            <a:ext cx="1018032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56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411200" y="10043160"/>
            <a:ext cx="10180320" cy="109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59247389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/>
          <p:cNvSpPr/>
          <p:nvPr userDrawn="1"/>
        </p:nvSpPr>
        <p:spPr>
          <a:xfrm>
            <a:off x="12301811" y="-77042"/>
            <a:ext cx="12082189" cy="13870084"/>
          </a:xfrm>
          <a:prstGeom prst="rect">
            <a:avLst/>
          </a:prstGeom>
          <a:solidFill>
            <a:srgbClr val="EE230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411200" y="2759868"/>
            <a:ext cx="1018032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56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411200" y="10043160"/>
            <a:ext cx="10180320" cy="109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2971769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6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826632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p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32752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page 05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843740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F816A-2DAE-0900-F10A-5DE47D97F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A3263-3DC8-F92D-E9F0-8AE6A4383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CB1F8-D56D-29E1-5F4C-790188D19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07.03.26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71FBB-573D-73F7-737F-DF302840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8C001-FB5E-919D-CE0B-ADE07237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933416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D423-28E7-064E-4767-BC3E3499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6105E-C810-CD57-0FAE-79B23CB53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EE99B-0E8A-8FCF-1760-881A2D933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07.03.26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8D365-BDF4-6DF1-CDAB-79CCB32C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E90F9-A965-8185-88C0-06E44D94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74072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565-A065-7094-0550-78D6187AE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2AA1D-84BA-1413-EDE8-4D5FBACA2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4840A-8588-F41E-326D-560B01F1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07.03.26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52F62-6949-4B50-B964-8A631162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84746-B33D-3B67-AD5A-57716A32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36878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D407-BE3A-EC58-5FD3-20973762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8139A-4010-31C3-FA4A-F6BEDA83E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ED647-16B5-8809-9C8B-6836A4B22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7A883-EABE-34A1-FB35-96C9BF91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07.03.26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AB681-B844-D6BC-DBE6-0349FF30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E3756-CA1B-A761-284E-3E007DC1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70322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B69E-B5EB-4310-5327-979F247F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BC976-818B-00C5-FF2F-17630DE48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DD94A-38E1-2A01-9695-A3E0D714E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EF5AFA-E614-A420-DC7B-E19296310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7FC77-8CDE-70DE-FC7C-4FAF18C5F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D9CC47-0D75-CF92-20E2-5CC0CB3FC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07.03.26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C39E7-2D5D-6019-F410-C1FD848F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F58158-1896-E045-210E-8E5B5DB3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25529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15B1-AC44-5772-B387-5EF34E4F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0AD85-16BF-720A-44FD-762AEC1E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07.03.26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5B520E-8994-188B-B927-7BFF79B8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EB855-BC33-195F-DC6B-E17CEE2D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810148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2AB9D-7120-25BE-F912-B3EEF895C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07.03.26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E3C11-F34F-9552-3432-329B0C61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4C6CE-D91D-F61C-E915-6AABCB9B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021471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CE4F0-94E2-DB4E-559B-4BCF4542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6D0F0-ACC8-022B-04D8-AEB47E0A0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7386E-314C-242C-3E11-3AEAE4F0F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664AB-5BB0-2A12-720F-A08532BC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07.03.26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1F522-1965-51B6-C046-363BD91E5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89985-F678-745F-BBCA-8E17AA48F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94434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3795-3AB1-8D7A-AF52-E6C1C33D3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489AA-E837-1DBD-03DD-26A50C883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3BA24-1EE7-1093-747F-486DEBAC1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15B0A-431D-2433-D027-11BE3CFB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07.03.26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B5C23-CA9F-26A1-0C80-28FF83558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62532-4AAB-15BB-2522-D783EAD7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44054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8BDA-B0ED-6281-0EBA-6E7AC748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C7FAC-09A5-E9E1-BF1D-287E39235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10BAF-A231-D503-C392-81D27F47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07.03.26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B39EA-1620-6843-1BC5-AD2C84A8B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28D3-B46B-8557-7746-131CDD77C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16893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FB202B-4428-72E6-D73E-4FF58C1AA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9C8C7-F407-F246-DB8A-C58DA8685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50019-BB35-FD09-44CB-768629284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07.03.26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03FCD-4ED2-B6C8-0D91-4FB6B148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A267B-729D-D82C-4B40-6CEA76EE7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017157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1" y="8473441"/>
            <a:ext cx="23081242" cy="157734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61" y="10180956"/>
            <a:ext cx="23081242" cy="1363664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/>
              <a:t>Subtitle goes here</a:t>
            </a:r>
            <a:endParaRPr lang="en-GB"/>
          </a:p>
        </p:txBody>
      </p:sp>
      <p:sp>
        <p:nvSpPr>
          <p:cNvPr id="15" name="Line"/>
          <p:cNvSpPr/>
          <p:nvPr userDrawn="1"/>
        </p:nvSpPr>
        <p:spPr>
          <a:xfrm>
            <a:off x="675308" y="1238476"/>
            <a:ext cx="1127368" cy="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16" name="Line"/>
          <p:cNvSpPr/>
          <p:nvPr userDrawn="1"/>
        </p:nvSpPr>
        <p:spPr>
          <a:xfrm>
            <a:off x="22555201" y="1238476"/>
            <a:ext cx="1148722" cy="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1" y="729551"/>
            <a:ext cx="9648446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</a:t>
            </a:r>
            <a:endParaRPr lang="en-GB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14150341" y="729703"/>
            <a:ext cx="9553582" cy="4436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DATE | CARCAVELOS CAMPUS </a:t>
            </a:r>
            <a:endParaRPr lang="en-GB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11773589"/>
            <a:ext cx="24384000" cy="1424796"/>
            <a:chOff x="0" y="11773587"/>
            <a:chExt cx="24384000" cy="1424796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2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277657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22680" y="4314294"/>
            <a:ext cx="9350376" cy="300085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680" y="7445320"/>
            <a:ext cx="9350376" cy="1363664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/>
              <a:t>Subtitle goes here</a:t>
            </a:r>
            <a:endParaRPr lang="en-GB"/>
          </a:p>
        </p:txBody>
      </p:sp>
      <p:sp>
        <p:nvSpPr>
          <p:cNvPr id="15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1" y="729551"/>
            <a:ext cx="9648446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826132034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03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1" y="8473441"/>
            <a:ext cx="23081242" cy="157734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61" y="10180956"/>
            <a:ext cx="23081242" cy="1363664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/>
              <a:t>Subtitle goes here</a:t>
            </a:r>
            <a:endParaRPr lang="en-GB"/>
          </a:p>
        </p:txBody>
      </p:sp>
      <p:sp>
        <p:nvSpPr>
          <p:cNvPr id="15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16" name="Line"/>
          <p:cNvSpPr/>
          <p:nvPr userDrawn="1"/>
        </p:nvSpPr>
        <p:spPr>
          <a:xfrm>
            <a:off x="22560530" y="1238475"/>
            <a:ext cx="1143392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1" y="729551"/>
            <a:ext cx="9648446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</a:t>
            </a:r>
            <a:endParaRPr lang="en-GB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14150341" y="729703"/>
            <a:ext cx="9553582" cy="4436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DATE | CARCAVELOS CAMPUS </a:t>
            </a:r>
            <a:endParaRPr lang="en-GB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2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3970058355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2577748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6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8594972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4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2577748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6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69911260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66311779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841242550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8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418685342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86802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86802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86802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20648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450519633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920648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920648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920648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73274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2118638743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2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920648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920648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920648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73274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53352644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3919933" y="2698911"/>
            <a:ext cx="9617646" cy="8431774"/>
          </a:xfrm>
          <a:prstGeom prst="rect">
            <a:avLst/>
          </a:prstGeom>
        </p:spPr>
        <p:txBody>
          <a:bodyPr/>
          <a:lstStyle>
            <a:lvl1pPr marL="0" marR="0" indent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endParaRPr lang="en-US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endParaRPr lang="en-US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endParaRPr lang="en-US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endParaRPr lang="en-US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endParaRPr lang="en-US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9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5332500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+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/>
          <p:cNvSpPr/>
          <p:nvPr userDrawn="1"/>
        </p:nvSpPr>
        <p:spPr>
          <a:xfrm>
            <a:off x="12301813" y="-77042"/>
            <a:ext cx="12082190" cy="1387008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411200" y="2759868"/>
            <a:ext cx="10180320" cy="734425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56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labore</a:t>
            </a:r>
            <a:r>
              <a:rPr lang="en-GB"/>
              <a:t> et </a:t>
            </a:r>
            <a:r>
              <a:rPr lang="en-GB" err="1"/>
              <a:t>dolore</a:t>
            </a:r>
            <a:r>
              <a:rPr lang="en-GB"/>
              <a:t> magna </a:t>
            </a:r>
            <a:r>
              <a:rPr lang="en-GB" err="1"/>
              <a:t>aliqua</a:t>
            </a:r>
            <a:r>
              <a:rPr lang="en-GB"/>
              <a:t>.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 nisi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</a:t>
            </a:r>
            <a:r>
              <a:rPr lang="en-GB"/>
              <a:t> </a:t>
            </a:r>
            <a:r>
              <a:rPr lang="en-GB" err="1"/>
              <a:t>commodo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411200" y="10043160"/>
            <a:ext cx="10180320" cy="1097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Author Name, job description </a:t>
            </a:r>
            <a:endParaRPr lang="en-GB"/>
          </a:p>
        </p:txBody>
      </p:sp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36251567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+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/>
          <p:cNvSpPr/>
          <p:nvPr userDrawn="1"/>
        </p:nvSpPr>
        <p:spPr>
          <a:xfrm>
            <a:off x="12301813" y="-77042"/>
            <a:ext cx="12082190" cy="13870084"/>
          </a:xfrm>
          <a:prstGeom prst="rect">
            <a:avLst/>
          </a:prstGeom>
          <a:solidFill>
            <a:srgbClr val="EE230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411200" y="2759868"/>
            <a:ext cx="10180320" cy="734425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56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labore</a:t>
            </a:r>
            <a:r>
              <a:rPr lang="en-GB"/>
              <a:t> et </a:t>
            </a:r>
            <a:r>
              <a:rPr lang="en-GB" err="1"/>
              <a:t>dolore</a:t>
            </a:r>
            <a:r>
              <a:rPr lang="en-GB"/>
              <a:t> magna </a:t>
            </a:r>
            <a:r>
              <a:rPr lang="en-GB" err="1"/>
              <a:t>aliqua</a:t>
            </a:r>
            <a:r>
              <a:rPr lang="en-GB"/>
              <a:t>.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 nisi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</a:t>
            </a:r>
            <a:r>
              <a:rPr lang="en-GB"/>
              <a:t> </a:t>
            </a:r>
            <a:r>
              <a:rPr lang="en-GB" err="1"/>
              <a:t>commodo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411200" y="10043160"/>
            <a:ext cx="10180320" cy="1097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Author Name, job description </a:t>
            </a:r>
            <a:endParaRPr lang="en-GB"/>
          </a:p>
        </p:txBody>
      </p:sp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8308522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611781"/>
            <a:ext cx="24384000" cy="492443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6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20128646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p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32764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theme" Target="../theme/theme5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05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85" r:id="rId3"/>
    <p:sldLayoutId id="2147483690" r:id="rId4"/>
    <p:sldLayoutId id="2147483689" r:id="rId5"/>
    <p:sldLayoutId id="2147483732" r:id="rId6"/>
    <p:sldLayoutId id="2147483735" r:id="rId7"/>
    <p:sldLayoutId id="2147483734" r:id="rId8"/>
    <p:sldLayoutId id="2147483736" r:id="rId9"/>
    <p:sldLayoutId id="2147483737" r:id="rId10"/>
    <p:sldLayoutId id="2147483739" r:id="rId11"/>
    <p:sldLayoutId id="2147483741" r:id="rId1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79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9" r:id="rId3"/>
    <p:sldLayoutId id="2147483712" r:id="rId4"/>
    <p:sldLayoutId id="2147483715" r:id="rId5"/>
    <p:sldLayoutId id="2147483717" r:id="rId6"/>
    <p:sldLayoutId id="2147483718" r:id="rId7"/>
    <p:sldLayoutId id="2147483723" r:id="rId8"/>
    <p:sldLayoutId id="2147483725" r:id="rId9"/>
    <p:sldLayoutId id="2147483730" r:id="rId10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5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1" r:id="rId2"/>
    <p:sldLayoutId id="2147483703" r:id="rId3"/>
    <p:sldLayoutId id="2147483704" r:id="rId4"/>
    <p:sldLayoutId id="2147483706" r:id="rId5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5" name="Image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08888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C2691-8093-7A47-B4F6-31CC8D2C6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842D6-2E2A-B6A9-9DCC-16848A307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CEB75-BCB8-FEF2-EA96-66B0CDC84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A456D-061B-474D-8616-C6E35A40B8A4}" type="datetimeFigureOut">
              <a:rPr lang="en-DE" smtClean="0"/>
              <a:t>07.03.26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3BBF1-369D-D02D-A96E-0229FE736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763F3-EDE8-B384-510F-CE3AFB2A4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0181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  <p:sldLayoutId id="2147483762" r:id="rId19"/>
    <p:sldLayoutId id="2147483763" r:id="rId20"/>
    <p:sldLayoutId id="2147483764" r:id="rId21"/>
    <p:sldLayoutId id="2147483765" r:id="rId22"/>
    <p:sldLayoutId id="2147483766" r:id="rId23"/>
    <p:sldLayoutId id="2147483767" r:id="rId24"/>
    <p:sldLayoutId id="2147483768" r:id="rId25"/>
    <p:sldLayoutId id="2147483769" r:id="rId26"/>
    <p:sldLayoutId id="2147483770" r:id="rId27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marR="0" lvl="0" indent="0" algn="l" defTabSz="41275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/>
                <a:sym typeface="Helvetica Neue"/>
              </a:rPr>
              <a:t>NovaCred</a:t>
            </a:r>
            <a:r>
              <a:rPr kumimoji="0" lang="en-GB" sz="6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/>
                <a:sym typeface="Helvetica Neue"/>
              </a:rPr>
              <a:t> Credit Application Governance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412750">
              <a:defRPr/>
            </a:pPr>
            <a:r>
              <a:rPr kumimoji="0" lang="en-GB" sz="2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rPr>
              <a:t>Data Engineer: Lenn Schneidewind (67548) </a:t>
            </a:r>
            <a:r>
              <a:rPr lang="en-DE" sz="2000" b="1" dirty="0"/>
              <a:t>| </a:t>
            </a:r>
            <a:r>
              <a:rPr kumimoji="0" lang="en-GB" sz="2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rPr>
              <a:t>Data Scientist: Fatima Zubair (70319) </a:t>
            </a:r>
            <a:r>
              <a:rPr lang="en-DE" sz="2000" b="1" dirty="0"/>
              <a:t>| </a:t>
            </a:r>
            <a:r>
              <a:rPr kumimoji="0" lang="en-GB" sz="2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rPr>
              <a:t>Governance Officer: Eduarda Dionísio (56503) </a:t>
            </a:r>
            <a:r>
              <a:rPr lang="en-DE" sz="2000" b="1" dirty="0"/>
              <a:t>| </a:t>
            </a:r>
            <a:r>
              <a:rPr kumimoji="0" lang="en-GB" sz="2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rPr>
              <a:t>Product Lead: Leon Schmidt (71644)</a:t>
            </a:r>
          </a:p>
          <a:p>
            <a:endParaRPr lang="en-GB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Group 14, DEGO 2606</a:t>
            </a:r>
          </a:p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09.03.2026 </a:t>
            </a:r>
            <a:r>
              <a:rPr lang="en-DE" b="1" dirty="0"/>
              <a:t>| </a:t>
            </a:r>
            <a:r>
              <a:rPr lang="en-DE" dirty="0"/>
              <a:t>Carcavelos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05820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6384-21B1-6FDC-72F5-9F03C4F76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F9E4A5-729A-212B-6099-E7E80C2A0E08}"/>
              </a:ext>
            </a:extLst>
          </p:cNvPr>
          <p:cNvSpPr/>
          <p:nvPr/>
        </p:nvSpPr>
        <p:spPr>
          <a:xfrm>
            <a:off x="12932229" y="3080302"/>
            <a:ext cx="11122089" cy="7947614"/>
          </a:xfrm>
          <a:prstGeom prst="rect">
            <a:avLst/>
          </a:prstGeom>
          <a:solidFill>
            <a:srgbClr val="F3F3F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E6CADA-266B-AF5A-076C-B2DF1247F4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DATA QUALITY </a:t>
            </a:r>
            <a:r>
              <a:rPr lang="en-DE" b="1" dirty="0"/>
              <a:t>| 09.03.2026</a:t>
            </a:r>
            <a:endParaRPr lang="en-GB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3B389-4863-44C6-F154-38DE5457BB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l" defTabSz="8255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ayfair Display"/>
                <a:sym typeface="Helvetica Neue"/>
              </a:rPr>
              <a:t>Ensuring Data Integrity: 99.6% Retention Post-Cleaning</a:t>
            </a:r>
          </a:p>
          <a:p>
            <a:endParaRPr lang="en-GB" dirty="0"/>
          </a:p>
        </p:txBody>
      </p:sp>
      <p:sp>
        <p:nvSpPr>
          <p:cNvPr id="23" name="StatBox10">
            <a:extLst>
              <a:ext uri="{FF2B5EF4-FFF2-40B4-BE49-F238E27FC236}">
                <a16:creationId xmlns:a16="http://schemas.microsoft.com/office/drawing/2014/main" id="{16F9D26E-3DAD-DA32-55B3-CBEFBB90D0B0}"/>
              </a:ext>
            </a:extLst>
          </p:cNvPr>
          <p:cNvSpPr txBox="1"/>
          <p:nvPr/>
        </p:nvSpPr>
        <p:spPr>
          <a:xfrm>
            <a:off x="621792" y="3080302"/>
            <a:ext cx="3751200" cy="2103120"/>
          </a:xfrm>
          <a:prstGeom prst="rect">
            <a:avLst/>
          </a:prstGeom>
          <a:solidFill>
            <a:srgbClr val="1A1A2E"/>
          </a:solidFill>
        </p:spPr>
        <p:txBody>
          <a:bodyPr wrap="square" lIns="274320" tIns="219456" rIns="274320" bIns="182880">
            <a:normAutofit/>
          </a:bodyPr>
          <a:lstStyle/>
          <a:p>
            <a:pPr algn="l" defTabSz="1828800" hangingPunct="1"/>
            <a:r>
              <a:rPr lang="en-GB" sz="720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502</a:t>
            </a:r>
          </a:p>
          <a:p>
            <a:pPr algn="l" defTabSz="1828800" hangingPunct="1"/>
            <a:r>
              <a:rPr lang="en-GB" sz="2000" b="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Raw Records Audited</a:t>
            </a:r>
          </a:p>
        </p:txBody>
      </p:sp>
      <p:sp>
        <p:nvSpPr>
          <p:cNvPr id="24" name="StatBox11">
            <a:extLst>
              <a:ext uri="{FF2B5EF4-FFF2-40B4-BE49-F238E27FC236}">
                <a16:creationId xmlns:a16="http://schemas.microsoft.com/office/drawing/2014/main" id="{2EDF4559-3FE8-7F73-1666-433095C4DB31}"/>
              </a:ext>
            </a:extLst>
          </p:cNvPr>
          <p:cNvSpPr txBox="1"/>
          <p:nvPr/>
        </p:nvSpPr>
        <p:spPr>
          <a:xfrm>
            <a:off x="4723362" y="3080302"/>
            <a:ext cx="3751200" cy="2103120"/>
          </a:xfrm>
          <a:prstGeom prst="rect">
            <a:avLst/>
          </a:prstGeom>
          <a:solidFill>
            <a:srgbClr val="2C5F8A"/>
          </a:solidFill>
        </p:spPr>
        <p:txBody>
          <a:bodyPr wrap="square" lIns="274320" tIns="219456" rIns="274320" bIns="182880">
            <a:normAutofit/>
          </a:bodyPr>
          <a:lstStyle/>
          <a:p>
            <a:pPr algn="l" defTabSz="1828800" hangingPunct="1"/>
            <a:r>
              <a:rPr lang="en-GB" sz="720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</a:p>
          <a:p>
            <a:pPr algn="l" defTabSz="1828800" hangingPunct="1"/>
            <a:r>
              <a:rPr lang="en-GB" sz="2000" b="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Issue Categories Found</a:t>
            </a:r>
          </a:p>
        </p:txBody>
      </p:sp>
      <p:sp>
        <p:nvSpPr>
          <p:cNvPr id="25" name="StatBox12">
            <a:extLst>
              <a:ext uri="{FF2B5EF4-FFF2-40B4-BE49-F238E27FC236}">
                <a16:creationId xmlns:a16="http://schemas.microsoft.com/office/drawing/2014/main" id="{2C42ECCD-3B71-0B75-B79E-0E3FFD2B1C7D}"/>
              </a:ext>
            </a:extLst>
          </p:cNvPr>
          <p:cNvSpPr txBox="1"/>
          <p:nvPr/>
        </p:nvSpPr>
        <p:spPr>
          <a:xfrm>
            <a:off x="8824932" y="3080302"/>
            <a:ext cx="3751200" cy="2103120"/>
          </a:xfrm>
          <a:prstGeom prst="rect">
            <a:avLst/>
          </a:prstGeom>
          <a:solidFill>
            <a:srgbClr val="7D233E"/>
          </a:solidFill>
        </p:spPr>
        <p:txBody>
          <a:bodyPr wrap="square" lIns="274320" tIns="219456" rIns="274320" bIns="182880">
            <a:normAutofit/>
          </a:bodyPr>
          <a:lstStyle/>
          <a:p>
            <a:pPr algn="l" defTabSz="1828800" hangingPunct="1"/>
            <a:r>
              <a:rPr lang="en-GB" sz="720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99.6%</a:t>
            </a:r>
          </a:p>
          <a:p>
            <a:pPr algn="l" defTabSz="1828800" hangingPunct="1"/>
            <a:r>
              <a:rPr lang="en-GB" sz="2000" b="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Retained After Clean</a:t>
            </a:r>
          </a:p>
        </p:txBody>
      </p:sp>
      <p:sp>
        <p:nvSpPr>
          <p:cNvPr id="26" name="TextBox13">
            <a:extLst>
              <a:ext uri="{FF2B5EF4-FFF2-40B4-BE49-F238E27FC236}">
                <a16:creationId xmlns:a16="http://schemas.microsoft.com/office/drawing/2014/main" id="{1C132663-FBB7-AEFA-C0A3-5ACFBFB6874B}"/>
              </a:ext>
            </a:extLst>
          </p:cNvPr>
          <p:cNvSpPr txBox="1"/>
          <p:nvPr/>
        </p:nvSpPr>
        <p:spPr>
          <a:xfrm>
            <a:off x="622680" y="5297860"/>
            <a:ext cx="1135596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Completeness</a:t>
            </a: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571500" indent="-571500" algn="l" defTabSz="1828800" hangingPunct="1">
              <a:buFontTx/>
              <a:buChar char="-"/>
              <a:defRPr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 records stored income under </a:t>
            </a:r>
            <a:r>
              <a:rPr lang="en-GB" sz="2600" b="0" kern="1200" dirty="0" err="1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annual_salary</a:t>
            </a: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(column mislabelling) </a:t>
            </a:r>
            <a:b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-&gt; merged and fully recovered.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13/21 columns had missing values, but all critical fields (income, decision, DTI) had 0% missingness. </a:t>
            </a: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Consistency</a:t>
            </a: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Gender coded 4 ways (M/F/Male/Female) — 111 records remapped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Income stored as string — 500 converted.</a:t>
            </a: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Validity</a:t>
            </a: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 negative credit history records imputed; 4 invalid emails cleared; 1 invalid income corrected.</a:t>
            </a: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Accuracy</a:t>
            </a: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 duplicate application IDs removed. Final dataset: 500 unique records ready for analysis.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BCE45D-B7E5-5B27-574D-1672484422AB}"/>
              </a:ext>
            </a:extLst>
          </p:cNvPr>
          <p:cNvSpPr/>
          <p:nvPr/>
        </p:nvSpPr>
        <p:spPr>
          <a:xfrm>
            <a:off x="621791" y="5297860"/>
            <a:ext cx="11954342" cy="5730056"/>
          </a:xfrm>
          <a:prstGeom prst="rect">
            <a:avLst/>
          </a:prstGeom>
          <a:noFill/>
          <a:ln w="19050" cap="flat" cmpd="sng" algn="ctr">
            <a:solidFill>
              <a:srgbClr val="1A1A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1828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A7CB25-97E7-0D10-7108-BCF277E1E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6502" y="3704853"/>
            <a:ext cx="11121565" cy="630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1274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D0FEE-C9D5-CE7E-7866-21EEA7C3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6DFDD9-CEBD-5F05-6243-686636E09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BIAS ANALYSIS </a:t>
            </a:r>
            <a:r>
              <a:rPr lang="en-DE" b="1" dirty="0"/>
              <a:t>| 09.03.2026</a:t>
            </a:r>
            <a:endParaRPr lang="en-GB" b="1" dirty="0"/>
          </a:p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DDC0F-E2C7-E8D3-BA73-701A1CAA03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z="5600" dirty="0"/>
              <a:t>Statistical Analysis of Gender Bias: Breach of the 4/5 Rule Threshold</a:t>
            </a:r>
          </a:p>
        </p:txBody>
      </p:sp>
      <p:sp>
        <p:nvSpPr>
          <p:cNvPr id="4" name="StatBox10">
            <a:extLst>
              <a:ext uri="{FF2B5EF4-FFF2-40B4-BE49-F238E27FC236}">
                <a16:creationId xmlns:a16="http://schemas.microsoft.com/office/drawing/2014/main" id="{64DBB23D-A6C2-3719-2BD7-6BCAD412328D}"/>
              </a:ext>
            </a:extLst>
          </p:cNvPr>
          <p:cNvSpPr txBox="1"/>
          <p:nvPr/>
        </p:nvSpPr>
        <p:spPr>
          <a:xfrm>
            <a:off x="621792" y="3080302"/>
            <a:ext cx="3751200" cy="2103120"/>
          </a:xfrm>
          <a:prstGeom prst="rect">
            <a:avLst/>
          </a:prstGeom>
          <a:solidFill>
            <a:srgbClr val="1A1A2E"/>
          </a:solidFill>
        </p:spPr>
        <p:txBody>
          <a:bodyPr wrap="square" lIns="274320" tIns="219456" rIns="274320" bIns="182880">
            <a:norm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0.77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Disparate Impact Ratio</a:t>
            </a:r>
          </a:p>
        </p:txBody>
      </p:sp>
      <p:sp>
        <p:nvSpPr>
          <p:cNvPr id="5" name="StatBox11">
            <a:extLst>
              <a:ext uri="{FF2B5EF4-FFF2-40B4-BE49-F238E27FC236}">
                <a16:creationId xmlns:a16="http://schemas.microsoft.com/office/drawing/2014/main" id="{7411D4B8-7C2E-E598-8E55-1B79D7955D53}"/>
              </a:ext>
            </a:extLst>
          </p:cNvPr>
          <p:cNvSpPr txBox="1"/>
          <p:nvPr/>
        </p:nvSpPr>
        <p:spPr>
          <a:xfrm>
            <a:off x="4723362" y="3080302"/>
            <a:ext cx="3751200" cy="2103120"/>
          </a:xfrm>
          <a:prstGeom prst="rect">
            <a:avLst/>
          </a:prstGeom>
          <a:solidFill>
            <a:srgbClr val="2C5F8A"/>
          </a:solidFill>
        </p:spPr>
        <p:txBody>
          <a:bodyPr wrap="square" lIns="274320" tIns="219456" rIns="274320" bIns="182880">
            <a:norm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−15.4</a:t>
            </a:r>
            <a:r>
              <a:rPr kumimoji="0" lang="en-GB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pp</a:t>
            </a:r>
            <a:endParaRPr kumimoji="0" lang="en-GB" sz="7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Gender Approval Gap</a:t>
            </a:r>
          </a:p>
        </p:txBody>
      </p:sp>
      <p:sp>
        <p:nvSpPr>
          <p:cNvPr id="6" name="StatBox12">
            <a:extLst>
              <a:ext uri="{FF2B5EF4-FFF2-40B4-BE49-F238E27FC236}">
                <a16:creationId xmlns:a16="http://schemas.microsoft.com/office/drawing/2014/main" id="{E391FCC8-CACD-19A8-299C-9CD92D833D2C}"/>
              </a:ext>
            </a:extLst>
          </p:cNvPr>
          <p:cNvSpPr txBox="1"/>
          <p:nvPr/>
        </p:nvSpPr>
        <p:spPr>
          <a:xfrm>
            <a:off x="8824932" y="3080302"/>
            <a:ext cx="3751200" cy="2103120"/>
          </a:xfrm>
          <a:prstGeom prst="rect">
            <a:avLst/>
          </a:prstGeom>
          <a:solidFill>
            <a:srgbClr val="7D233E"/>
          </a:solidFill>
        </p:spPr>
        <p:txBody>
          <a:bodyPr wrap="square" lIns="274320" tIns="219456" rIns="274320" bIns="182880">
            <a:norm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P&lt;0.05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Chi-Square Significance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6148AB-1E3F-8EE1-FC35-E084585F7559}"/>
              </a:ext>
            </a:extLst>
          </p:cNvPr>
          <p:cNvSpPr/>
          <p:nvPr/>
        </p:nvSpPr>
        <p:spPr>
          <a:xfrm>
            <a:off x="621791" y="5297860"/>
            <a:ext cx="11954342" cy="5730056"/>
          </a:xfrm>
          <a:prstGeom prst="rect">
            <a:avLst/>
          </a:prstGeom>
          <a:noFill/>
          <a:ln>
            <a:solidFill>
              <a:srgbClr val="1A1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 Neu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A47FA7-AA67-1CF5-FBA4-917DB5238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5692" y="3080302"/>
            <a:ext cx="9840860" cy="8438476"/>
          </a:xfrm>
          <a:prstGeom prst="rect">
            <a:avLst/>
          </a:prstGeom>
        </p:spPr>
      </p:pic>
      <p:sp>
        <p:nvSpPr>
          <p:cNvPr id="9" name="TextBox13">
            <a:extLst>
              <a:ext uri="{FF2B5EF4-FFF2-40B4-BE49-F238E27FC236}">
                <a16:creationId xmlns:a16="http://schemas.microsoft.com/office/drawing/2014/main" id="{9B46A17D-5C89-5A94-6BAB-1056F69C30E2}"/>
              </a:ext>
            </a:extLst>
          </p:cNvPr>
          <p:cNvSpPr txBox="1"/>
          <p:nvPr/>
        </p:nvSpPr>
        <p:spPr>
          <a:xfrm>
            <a:off x="621790" y="5297860"/>
            <a:ext cx="612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Approval rate:</a:t>
            </a:r>
          </a:p>
          <a:p>
            <a:pPr marL="571500" marR="0" lvl="0" indent="-57150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Male 65.9%  |  Female 50.6%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571500" marR="0" lvl="0" indent="-57150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DEC868-5591-4377-E9A3-6161C694F6C0}"/>
              </a:ext>
            </a:extLst>
          </p:cNvPr>
          <p:cNvSpPr txBox="1"/>
          <p:nvPr/>
        </p:nvSpPr>
        <p:spPr>
          <a:xfrm>
            <a:off x="6068952" y="5297861"/>
            <a:ext cx="6120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Approved loans:</a:t>
            </a:r>
          </a:p>
          <a:p>
            <a:pPr marL="571500" marR="0" lvl="0" indent="-57150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Male €48,963 |  Female €46,669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206E0-02DF-D5B4-2CC6-73DC85A98F1F}"/>
              </a:ext>
            </a:extLst>
          </p:cNvPr>
          <p:cNvSpPr txBox="1"/>
          <p:nvPr/>
        </p:nvSpPr>
        <p:spPr>
          <a:xfrm>
            <a:off x="621790" y="6503517"/>
            <a:ext cx="1220034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altLang="en-DE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Significant Disparate Impact Identified:</a:t>
            </a: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 </a:t>
            </a:r>
          </a:p>
          <a:p>
            <a:pPr marL="571500" marR="0" lvl="0" indent="-57150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DI ratio of </a:t>
            </a:r>
            <a:r>
              <a:rPr kumimoji="0" lang="en-DE" altLang="en-DE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0.77</a:t>
            </a: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 </a:t>
            </a:r>
            <a:r>
              <a:rPr kumimoji="0" lang="en-DE" altLang="en-DE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&lt; 0.80 </a:t>
            </a: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legal threshold -&gt; bias against female applicants.</a:t>
            </a:r>
          </a:p>
          <a:p>
            <a:pPr marL="0" marR="0" lvl="0" indent="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DE" altLang="en-DE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0" marR="0" lvl="0" indent="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altLang="en-DE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Gender as a Key Predictor:</a:t>
            </a: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 </a:t>
            </a:r>
          </a:p>
          <a:p>
            <a:pPr marL="571500" marR="0" lvl="0" indent="-57150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Logistic regression confirms gender is a significant driver (coef = </a:t>
            </a:r>
            <a:r>
              <a:rPr kumimoji="0" lang="en-DE" altLang="en-DE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−0.352</a:t>
            </a: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)</a:t>
            </a:r>
          </a:p>
          <a:p>
            <a:pPr marL="571500" marR="0" lvl="0" indent="-57150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en-DE" altLang="en-DE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0" marR="0" lvl="0" indent="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altLang="en-DE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Gap Unexplained by Financials:</a:t>
            </a:r>
            <a:endParaRPr kumimoji="0" lang="en-DE" altLang="en-DE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571500" marR="0" lvl="0" indent="-57150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Approval disparity persists regardless of income, credit history, debt-to-income (DTI) ratios, or savings -&gt; bias is not risked based</a:t>
            </a:r>
          </a:p>
          <a:p>
            <a:pPr marL="571500" marR="0" lvl="0" indent="-57150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en-DE" altLang="en-D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27885930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26B5-8A9E-5D67-0E2F-A8B51CF7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58A0AF-0C99-265F-1CAD-DDA647403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BIAS ANALYSIS </a:t>
            </a:r>
            <a:r>
              <a:rPr lang="en-DE" b="1" dirty="0"/>
              <a:t>| 09.03.2026</a:t>
            </a:r>
            <a:endParaRPr lang="en-GB" b="1" dirty="0"/>
          </a:p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086BB-4970-1D67-A098-F8A547299B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z="6400" dirty="0"/>
              <a:t>Age-Based Bias &amp; Proxy Discrimination via ZIP Code</a:t>
            </a:r>
          </a:p>
          <a:p>
            <a:endParaRPr lang="en-GB" sz="6400" dirty="0"/>
          </a:p>
        </p:txBody>
      </p:sp>
      <p:sp>
        <p:nvSpPr>
          <p:cNvPr id="4" name="StatBox10">
            <a:extLst>
              <a:ext uri="{FF2B5EF4-FFF2-40B4-BE49-F238E27FC236}">
                <a16:creationId xmlns:a16="http://schemas.microsoft.com/office/drawing/2014/main" id="{CFD868DE-6B49-FCC2-5AE2-CEC26815B089}"/>
              </a:ext>
            </a:extLst>
          </p:cNvPr>
          <p:cNvSpPr txBox="1"/>
          <p:nvPr/>
        </p:nvSpPr>
        <p:spPr>
          <a:xfrm>
            <a:off x="621792" y="2777196"/>
            <a:ext cx="7040880" cy="1920240"/>
          </a:xfrm>
          <a:prstGeom prst="rect">
            <a:avLst/>
          </a:prstGeom>
          <a:solidFill>
            <a:srgbClr val="1A1A2E"/>
          </a:solidFill>
        </p:spPr>
        <p:txBody>
          <a:bodyPr wrap="square" lIns="274320" tIns="219456" rIns="274320" bIns="182880">
            <a:normAutofit/>
          </a:bodyPr>
          <a:lstStyle/>
          <a:p>
            <a:pPr algn="l" defTabSz="1828800" hangingPunct="1"/>
            <a:r>
              <a:rPr lang="en-GB" sz="72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DI = 0.629</a:t>
            </a:r>
          </a:p>
          <a:p>
            <a:pPr algn="l" defTabSz="1828800" hangingPunct="1"/>
            <a:r>
              <a:rPr lang="en-GB" sz="2000" b="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Under-30s vs 30-50 Group</a:t>
            </a:r>
          </a:p>
        </p:txBody>
      </p:sp>
      <p:sp>
        <p:nvSpPr>
          <p:cNvPr id="5" name="StatBox11">
            <a:extLst>
              <a:ext uri="{FF2B5EF4-FFF2-40B4-BE49-F238E27FC236}">
                <a16:creationId xmlns:a16="http://schemas.microsoft.com/office/drawing/2014/main" id="{2039F01A-6337-2875-1A7D-C45208AB8648}"/>
              </a:ext>
            </a:extLst>
          </p:cNvPr>
          <p:cNvSpPr txBox="1"/>
          <p:nvPr/>
        </p:nvSpPr>
        <p:spPr>
          <a:xfrm>
            <a:off x="8494792" y="2777196"/>
            <a:ext cx="7040880" cy="1920240"/>
          </a:xfrm>
          <a:prstGeom prst="rect">
            <a:avLst/>
          </a:prstGeom>
          <a:solidFill>
            <a:srgbClr val="1A1A2E"/>
          </a:solidFill>
        </p:spPr>
        <p:txBody>
          <a:bodyPr wrap="square" lIns="274320" tIns="219456" rIns="274320" bIns="182880">
            <a:normAutofit/>
          </a:bodyPr>
          <a:lstStyle/>
          <a:p>
            <a:pPr algn="l" defTabSz="1828800" hangingPunct="1"/>
            <a:r>
              <a:rPr lang="en-GB" sz="72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30.6%</a:t>
            </a:r>
          </a:p>
          <a:p>
            <a:pPr algn="l" defTabSz="1828800" hangingPunct="1"/>
            <a:r>
              <a:rPr lang="en-GB" sz="2000" b="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Young Women Approval Rate (Worst)</a:t>
            </a:r>
          </a:p>
        </p:txBody>
      </p:sp>
      <p:sp>
        <p:nvSpPr>
          <p:cNvPr id="6" name="StatBox12">
            <a:extLst>
              <a:ext uri="{FF2B5EF4-FFF2-40B4-BE49-F238E27FC236}">
                <a16:creationId xmlns:a16="http://schemas.microsoft.com/office/drawing/2014/main" id="{C45AEB0D-C35F-ABEE-17A6-75498F8BF63B}"/>
              </a:ext>
            </a:extLst>
          </p:cNvPr>
          <p:cNvSpPr txBox="1"/>
          <p:nvPr/>
        </p:nvSpPr>
        <p:spPr>
          <a:xfrm>
            <a:off x="16367790" y="2777196"/>
            <a:ext cx="7040880" cy="1920240"/>
          </a:xfrm>
          <a:prstGeom prst="rect">
            <a:avLst/>
          </a:prstGeom>
          <a:solidFill>
            <a:srgbClr val="1A1A2E"/>
          </a:solidFill>
        </p:spPr>
        <p:txBody>
          <a:bodyPr wrap="square" lIns="274320" tIns="219456" rIns="274320" bIns="182880">
            <a:normAutofit/>
          </a:bodyPr>
          <a:lstStyle/>
          <a:p>
            <a:pPr algn="l" defTabSz="1828800" hangingPunct="1"/>
            <a:r>
              <a:rPr lang="en-GB" sz="72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V = 0.63</a:t>
            </a:r>
          </a:p>
          <a:p>
            <a:pPr algn="l" defTabSz="1828800" hangingPunct="1"/>
            <a:r>
              <a:rPr lang="en-GB" sz="2000" b="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ZIP-to-Gender Cramer’s V</a:t>
            </a:r>
          </a:p>
        </p:txBody>
      </p:sp>
      <p:sp>
        <p:nvSpPr>
          <p:cNvPr id="7" name="TextBox15">
            <a:extLst>
              <a:ext uri="{FF2B5EF4-FFF2-40B4-BE49-F238E27FC236}">
                <a16:creationId xmlns:a16="http://schemas.microsoft.com/office/drawing/2014/main" id="{0F429299-2C4F-7035-D005-5CE9FE4CDBBF}"/>
              </a:ext>
            </a:extLst>
          </p:cNvPr>
          <p:cNvSpPr txBox="1"/>
          <p:nvPr/>
        </p:nvSpPr>
        <p:spPr>
          <a:xfrm>
            <a:off x="16367790" y="9572940"/>
            <a:ext cx="7040880" cy="13658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Aptos" panose="02110004020202020204"/>
              </a:rPr>
              <a:t>Removing gender from the model does NOT fix bias if ZIP code remains  -&gt;  acts as a direct proxy (Cramer’s V = 0.63)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2D455-F842-BCBB-63C5-C0CE97EE4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6943" y="5380369"/>
            <a:ext cx="8249170" cy="4082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A73D1F-E488-B385-7090-20871A11D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739335"/>
            <a:ext cx="14913880" cy="682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9365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63A7-211F-20DB-FB90-F450BDD2E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78EFEA-5E7A-C64B-B9B4-658275D4BB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PRIVACY &amp; GOVERNANCE </a:t>
            </a:r>
            <a:r>
              <a:rPr lang="en-DE" b="1" dirty="0"/>
              <a:t>| 09.03.2026</a:t>
            </a:r>
            <a:endParaRPr lang="en-GB" b="1" dirty="0"/>
          </a:p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178FF-AAA2-C707-55E6-B1551C0DDD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680" y="1654686"/>
            <a:ext cx="23133432" cy="1080611"/>
          </a:xfrm>
        </p:spPr>
        <p:txBody>
          <a:bodyPr/>
          <a:lstStyle/>
          <a:p>
            <a:pPr marL="0" marR="0" lvl="0" indent="0" algn="l" defTabSz="8255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ayfair Display"/>
                <a:sym typeface="Helvetica Neue"/>
              </a:rPr>
              <a:t>Personal Data Exposure: 7 PII Fields Stored Without Protection</a:t>
            </a:r>
          </a:p>
        </p:txBody>
      </p:sp>
      <p:sp>
        <p:nvSpPr>
          <p:cNvPr id="4" name="TextBox14">
            <a:extLst>
              <a:ext uri="{FF2B5EF4-FFF2-40B4-BE49-F238E27FC236}">
                <a16:creationId xmlns:a16="http://schemas.microsoft.com/office/drawing/2014/main" id="{9CEB8C25-CFD1-F0E7-F901-6697FDC2EC5E}"/>
              </a:ext>
            </a:extLst>
          </p:cNvPr>
          <p:cNvSpPr txBox="1"/>
          <p:nvPr/>
        </p:nvSpPr>
        <p:spPr>
          <a:xfrm>
            <a:off x="12188952" y="3291838"/>
            <a:ext cx="11567160" cy="8232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algn="l" defTabSz="1828800" hangingPunct="1"/>
            <a:r>
              <a:rPr lang="en-GB" sz="2600" u="sng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GDPR Compliance Assessment</a:t>
            </a:r>
          </a:p>
          <a:p>
            <a:pPr algn="l" defTabSz="1828800" hangingPunct="1"/>
            <a:endParaRPr lang="en-GB" sz="2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Art. 5 – Data Minimisation: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SSN should not be retained beyond ID verification.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Notes field (99.6% empty) means no justification for decisions.</a:t>
            </a:r>
          </a:p>
          <a:p>
            <a:pPr algn="l" defTabSz="1828800" hangingPunct="1"/>
            <a:endParaRPr lang="en-GB" sz="2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Art. 6 – Lawful Basis: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Contractual necessity + legitimate interest. No consent field currently tracked.</a:t>
            </a:r>
          </a:p>
          <a:p>
            <a:pPr marL="571500" indent="-571500" algn="l" defTabSz="1828800" hangingPunct="1">
              <a:buFontTx/>
              <a:buChar char="-"/>
            </a:pPr>
            <a:endParaRPr lang="en-GB" sz="2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Art. 17 – Right to Erasure: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deletion mechanism exists in the current pipeline -&gt; GAP</a:t>
            </a:r>
          </a:p>
          <a:p>
            <a:pPr algn="l" defTabSz="1828800" hangingPunct="1"/>
            <a:endParaRPr lang="en-GB" sz="2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Art. 22 – Automated Decisions: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Credit scoring produces legal effects. Consent tracking field is MISSING from all 500 records.</a:t>
            </a:r>
          </a:p>
          <a:p>
            <a:pPr marL="571500" indent="-571500" algn="l" defTabSz="1828800" hangingPunct="1">
              <a:buFontTx/>
              <a:buChar char="-"/>
            </a:pPr>
            <a:endParaRPr lang="en-GB" sz="2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 AI Act Annex III, 5(b):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 err="1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NovaCred’s</a:t>
            </a: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system is classified HIGH-RISK. Conformity assessment required before deployment.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910398-3B5E-091C-6059-C90668B02E78}"/>
              </a:ext>
            </a:extLst>
          </p:cNvPr>
          <p:cNvGraphicFramePr>
            <a:graphicFrameLocks noGrp="1"/>
          </p:cNvGraphicFramePr>
          <p:nvPr/>
        </p:nvGraphicFramePr>
        <p:xfrm>
          <a:off x="621792" y="3291838"/>
          <a:ext cx="10351008" cy="8232112"/>
        </p:xfrm>
        <a:graphic>
          <a:graphicData uri="http://schemas.openxmlformats.org/drawingml/2006/table">
            <a:tbl>
              <a:tblPr firstCol="1">
                <a:tableStyleId>{793D81CF-94F2-401A-BA57-92F5A7B2D0C5}</a:tableStyleId>
              </a:tblPr>
              <a:tblGrid>
                <a:gridCol w="3450336">
                  <a:extLst>
                    <a:ext uri="{9D8B030D-6E8A-4147-A177-3AD203B41FA5}">
                      <a16:colId xmlns:a16="http://schemas.microsoft.com/office/drawing/2014/main" val="1832449792"/>
                    </a:ext>
                  </a:extLst>
                </a:gridCol>
                <a:gridCol w="3450336">
                  <a:extLst>
                    <a:ext uri="{9D8B030D-6E8A-4147-A177-3AD203B41FA5}">
                      <a16:colId xmlns:a16="http://schemas.microsoft.com/office/drawing/2014/main" val="4190798837"/>
                    </a:ext>
                  </a:extLst>
                </a:gridCol>
                <a:gridCol w="3450336">
                  <a:extLst>
                    <a:ext uri="{9D8B030D-6E8A-4147-A177-3AD203B41FA5}">
                      <a16:colId xmlns:a16="http://schemas.microsoft.com/office/drawing/2014/main" val="1055157923"/>
                    </a:ext>
                  </a:extLst>
                </a:gridCol>
              </a:tblGrid>
              <a:tr h="86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FIELD</a:t>
                      </a:r>
                      <a:endParaRPr lang="en-GB" sz="3200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B w="12700" cmpd="sng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PII TYPE</a:t>
                      </a:r>
                      <a:endParaRPr lang="en-GB" sz="3200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B w="12700" cmpd="sng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RISK</a:t>
                      </a:r>
                      <a:endParaRPr lang="en-GB" sz="3200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B w="12700" cmpd="sng">
                      <a:noFill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503692"/>
                  </a:ext>
                </a:extLst>
              </a:tr>
              <a:tr h="151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ssn</a:t>
                      </a:r>
                      <a:endParaRPr lang="en-GB" sz="320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Sensitive Identifier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 dirty="0">
                          <a:solidFill>
                            <a:srgbClr val="7D233E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CRITICAL</a:t>
                      </a:r>
                      <a:endParaRPr lang="en-GB" sz="3200" dirty="0">
                        <a:solidFill>
                          <a:srgbClr val="7D233E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542121"/>
                  </a:ext>
                </a:extLst>
              </a:tr>
              <a:tr h="86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full_name</a:t>
                      </a:r>
                      <a:endParaRPr lang="en-GB" sz="3200" dirty="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Direct Identifier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  <a:endParaRPr lang="en-GB" sz="3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1428424"/>
                  </a:ext>
                </a:extLst>
              </a:tr>
              <a:tr h="86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email</a:t>
                      </a:r>
                      <a:endParaRPr lang="en-GB" sz="320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Direct Identifier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  <a:endParaRPr lang="en-GB" sz="3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998345"/>
                  </a:ext>
                </a:extLst>
              </a:tr>
              <a:tr h="151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spending_behavior</a:t>
                      </a:r>
                      <a:endParaRPr lang="en-GB" sz="320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Sensitive Behavioral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MED-HIGH</a:t>
                      </a:r>
                      <a:endParaRPr lang="en-GB" sz="32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2095537"/>
                  </a:ext>
                </a:extLst>
              </a:tr>
              <a:tr h="86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ip_address</a:t>
                      </a:r>
                      <a:endParaRPr lang="en-GB" sz="320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Quasi-Identifier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  <a:endParaRPr lang="en-GB" sz="3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5269042"/>
                  </a:ext>
                </a:extLst>
              </a:tr>
              <a:tr h="86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date_of_birth</a:t>
                      </a:r>
                      <a:endParaRPr lang="en-GB" sz="320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Quasi-Identifier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  <a:endParaRPr lang="en-GB" sz="3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529065"/>
                  </a:ext>
                </a:extLst>
              </a:tr>
              <a:tr h="86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zip_code</a:t>
                      </a:r>
                      <a:endParaRPr lang="en-GB" sz="3200" dirty="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Quasi-Identifier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 / PROXY</a:t>
                      </a:r>
                      <a:endParaRPr lang="en-GB" sz="32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3924680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803D06-40E7-9293-AF92-AB0FE3B4625F}"/>
              </a:ext>
            </a:extLst>
          </p:cNvPr>
          <p:cNvCxnSpPr/>
          <p:nvPr/>
        </p:nvCxnSpPr>
        <p:spPr>
          <a:xfrm>
            <a:off x="11577552" y="3702153"/>
            <a:ext cx="0" cy="332553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riangle 8">
            <a:extLst>
              <a:ext uri="{FF2B5EF4-FFF2-40B4-BE49-F238E27FC236}">
                <a16:creationId xmlns:a16="http://schemas.microsoft.com/office/drawing/2014/main" id="{0C28F43F-B30E-7799-CCFF-0B14E466299B}"/>
              </a:ext>
            </a:extLst>
          </p:cNvPr>
          <p:cNvSpPr/>
          <p:nvPr/>
        </p:nvSpPr>
        <p:spPr>
          <a:xfrm rot="5400000">
            <a:off x="10670604" y="6692325"/>
            <a:ext cx="1585453" cy="1293876"/>
          </a:xfrm>
          <a:prstGeom prst="triangle">
            <a:avLst/>
          </a:prstGeom>
          <a:noFill/>
          <a:ln w="12700" cap="flat">
            <a:solidFill>
              <a:srgbClr val="1A1A2E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99C5A9-4698-48E4-914C-028334F17C05}"/>
              </a:ext>
            </a:extLst>
          </p:cNvPr>
          <p:cNvSpPr/>
          <p:nvPr/>
        </p:nvSpPr>
        <p:spPr>
          <a:xfrm>
            <a:off x="10541230" y="6328610"/>
            <a:ext cx="601579" cy="202130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D4C212-D0B0-C067-1801-062B34EDB409}"/>
              </a:ext>
            </a:extLst>
          </p:cNvPr>
          <p:cNvCxnSpPr/>
          <p:nvPr/>
        </p:nvCxnSpPr>
        <p:spPr>
          <a:xfrm>
            <a:off x="11577552" y="7654146"/>
            <a:ext cx="0" cy="332553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01683093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41FA5-518C-77DE-36F8-AB874B41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20">
            <a:extLst>
              <a:ext uri="{FF2B5EF4-FFF2-40B4-BE49-F238E27FC236}">
                <a16:creationId xmlns:a16="http://schemas.microsoft.com/office/drawing/2014/main" id="{EFA208ED-2ED0-BB80-2B9A-F7E67166F0D9}"/>
              </a:ext>
            </a:extLst>
          </p:cNvPr>
          <p:cNvSpPr/>
          <p:nvPr/>
        </p:nvSpPr>
        <p:spPr>
          <a:xfrm>
            <a:off x="17124164" y="6446520"/>
            <a:ext cx="6176390" cy="30632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475FD8-BA9F-4B2B-B12B-6C748876C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GOVERNANCE Recommendations </a:t>
            </a:r>
            <a:r>
              <a:rPr lang="en-DE" b="1" dirty="0"/>
              <a:t>| 09.03.2026</a:t>
            </a:r>
            <a:endParaRPr lang="en-GB" b="1" dirty="0"/>
          </a:p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0C766-233C-0DD7-59E9-1FEA40AD25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l" defTabSz="8255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ayfair Display"/>
                <a:sym typeface="Helvetica Neue"/>
              </a:rPr>
              <a:t>Four Mandatory Controls Before </a:t>
            </a:r>
            <a:r>
              <a:rPr kumimoji="0" lang="en-GB" sz="6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ayfair Display"/>
                <a:sym typeface="Helvetica Neue"/>
              </a:rPr>
              <a:t>NovaCred</a:t>
            </a:r>
            <a:r>
              <a:rPr kumimoji="0" lang="en-GB" sz="6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ayfair Display"/>
                <a:sym typeface="Helvetica Neue"/>
              </a:rPr>
              <a:t> Can Deploy</a:t>
            </a:r>
          </a:p>
          <a:p>
            <a:endParaRPr lang="en-GB" dirty="0"/>
          </a:p>
        </p:txBody>
      </p:sp>
      <p:sp>
        <p:nvSpPr>
          <p:cNvPr id="4" name="StatBox10">
            <a:extLst>
              <a:ext uri="{FF2B5EF4-FFF2-40B4-BE49-F238E27FC236}">
                <a16:creationId xmlns:a16="http://schemas.microsoft.com/office/drawing/2014/main" id="{3929BDC8-C4C7-9962-56C5-B8C478A22B2F}"/>
              </a:ext>
            </a:extLst>
          </p:cNvPr>
          <p:cNvSpPr txBox="1"/>
          <p:nvPr/>
        </p:nvSpPr>
        <p:spPr>
          <a:xfrm>
            <a:off x="17124164" y="3291840"/>
            <a:ext cx="6176390" cy="3017520"/>
          </a:xfrm>
          <a:prstGeom prst="rect">
            <a:avLst/>
          </a:prstGeom>
          <a:solidFill>
            <a:srgbClr val="7D233D"/>
          </a:solidFill>
        </p:spPr>
        <p:txBody>
          <a:bodyPr wrap="square" lIns="274320" tIns="219456" rIns="274320" bIns="182880" anchor="ctr">
            <a:normAutofit/>
          </a:bodyPr>
          <a:lstStyle/>
          <a:p>
            <a:pPr defTabSz="1828800" hangingPunct="1"/>
            <a:r>
              <a:rPr lang="en-GB" sz="720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HIGH-RISK</a:t>
            </a:r>
          </a:p>
          <a:p>
            <a:pPr defTabSz="1828800" hangingPunct="1"/>
            <a:r>
              <a:rPr lang="en-GB" sz="2000" b="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 AI Act – Annex III, 5(b)</a:t>
            </a:r>
          </a:p>
        </p:txBody>
      </p:sp>
      <p:sp>
        <p:nvSpPr>
          <p:cNvPr id="5" name="Rect20">
            <a:extLst>
              <a:ext uri="{FF2B5EF4-FFF2-40B4-BE49-F238E27FC236}">
                <a16:creationId xmlns:a16="http://schemas.microsoft.com/office/drawing/2014/main" id="{F180ACBA-4F2D-7D16-56C3-9BAE14F88E5F}"/>
              </a:ext>
            </a:extLst>
          </p:cNvPr>
          <p:cNvSpPr/>
          <p:nvPr/>
        </p:nvSpPr>
        <p:spPr>
          <a:xfrm>
            <a:off x="621792" y="3291840"/>
            <a:ext cx="7863840" cy="30175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21">
            <a:extLst>
              <a:ext uri="{FF2B5EF4-FFF2-40B4-BE49-F238E27FC236}">
                <a16:creationId xmlns:a16="http://schemas.microsoft.com/office/drawing/2014/main" id="{896D4072-372E-FCF5-C6B0-F2F045CCC4C0}"/>
              </a:ext>
            </a:extLst>
          </p:cNvPr>
          <p:cNvSpPr/>
          <p:nvPr/>
        </p:nvSpPr>
        <p:spPr>
          <a:xfrm>
            <a:off x="621792" y="3291840"/>
            <a:ext cx="731520" cy="3017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22">
            <a:extLst>
              <a:ext uri="{FF2B5EF4-FFF2-40B4-BE49-F238E27FC236}">
                <a16:creationId xmlns:a16="http://schemas.microsoft.com/office/drawing/2014/main" id="{3ED14417-CA50-5B34-1381-6E6A87E6356C}"/>
              </a:ext>
            </a:extLst>
          </p:cNvPr>
          <p:cNvSpPr txBox="1"/>
          <p:nvPr/>
        </p:nvSpPr>
        <p:spPr>
          <a:xfrm>
            <a:off x="1536192" y="3511296"/>
            <a:ext cx="6675120" cy="7315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 defTabSz="1828800" hangingPunct="1"/>
            <a:r>
              <a:rPr lang="en-GB" sz="44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</a:p>
        </p:txBody>
      </p:sp>
      <p:sp>
        <p:nvSpPr>
          <p:cNvPr id="8" name="TextBox23">
            <a:extLst>
              <a:ext uri="{FF2B5EF4-FFF2-40B4-BE49-F238E27FC236}">
                <a16:creationId xmlns:a16="http://schemas.microsoft.com/office/drawing/2014/main" id="{325572DC-E7B9-12DD-BDB7-D64CFFD6557A}"/>
              </a:ext>
            </a:extLst>
          </p:cNvPr>
          <p:cNvSpPr txBox="1"/>
          <p:nvPr/>
        </p:nvSpPr>
        <p:spPr>
          <a:xfrm>
            <a:off x="1536192" y="4206240"/>
            <a:ext cx="66751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8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Audit Trail</a:t>
            </a:r>
          </a:p>
        </p:txBody>
      </p:sp>
      <p:sp>
        <p:nvSpPr>
          <p:cNvPr id="9" name="TextBox24">
            <a:extLst>
              <a:ext uri="{FF2B5EF4-FFF2-40B4-BE49-F238E27FC236}">
                <a16:creationId xmlns:a16="http://schemas.microsoft.com/office/drawing/2014/main" id="{6C1372FB-781A-7EF0-0C07-975200AEDB57}"/>
              </a:ext>
            </a:extLst>
          </p:cNvPr>
          <p:cNvSpPr txBox="1"/>
          <p:nvPr/>
        </p:nvSpPr>
        <p:spPr>
          <a:xfrm>
            <a:off x="1536192" y="4754880"/>
            <a:ext cx="6675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 every automated credit decision with timestamp, input features, and output. Enables explainability under </a:t>
            </a:r>
            <a:r>
              <a:rPr lang="en-GB" sz="21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GDPR Art. 22 </a:t>
            </a:r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GB" sz="21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 AI Act</a:t>
            </a:r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0" name="Rect20">
            <a:extLst>
              <a:ext uri="{FF2B5EF4-FFF2-40B4-BE49-F238E27FC236}">
                <a16:creationId xmlns:a16="http://schemas.microsoft.com/office/drawing/2014/main" id="{7E11E81B-C3A5-515F-BE41-2A89AAA6C9A7}"/>
              </a:ext>
            </a:extLst>
          </p:cNvPr>
          <p:cNvSpPr/>
          <p:nvPr/>
        </p:nvSpPr>
        <p:spPr>
          <a:xfrm>
            <a:off x="8778240" y="3291840"/>
            <a:ext cx="7863840" cy="30175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ect21">
            <a:extLst>
              <a:ext uri="{FF2B5EF4-FFF2-40B4-BE49-F238E27FC236}">
                <a16:creationId xmlns:a16="http://schemas.microsoft.com/office/drawing/2014/main" id="{16549464-2573-967A-BCDF-A2D03A78F0D9}"/>
              </a:ext>
            </a:extLst>
          </p:cNvPr>
          <p:cNvSpPr/>
          <p:nvPr/>
        </p:nvSpPr>
        <p:spPr>
          <a:xfrm>
            <a:off x="8778240" y="3291840"/>
            <a:ext cx="731520" cy="3017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22">
            <a:extLst>
              <a:ext uri="{FF2B5EF4-FFF2-40B4-BE49-F238E27FC236}">
                <a16:creationId xmlns:a16="http://schemas.microsoft.com/office/drawing/2014/main" id="{996B5132-455F-1141-4E86-EEBA0DC5D46B}"/>
              </a:ext>
            </a:extLst>
          </p:cNvPr>
          <p:cNvSpPr txBox="1"/>
          <p:nvPr/>
        </p:nvSpPr>
        <p:spPr>
          <a:xfrm>
            <a:off x="9692640" y="3511296"/>
            <a:ext cx="6675120" cy="7315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 defTabSz="1828800" hangingPunct="1"/>
            <a:r>
              <a:rPr lang="en-GB" sz="44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</a:p>
        </p:txBody>
      </p:sp>
      <p:sp>
        <p:nvSpPr>
          <p:cNvPr id="13" name="TextBox23">
            <a:extLst>
              <a:ext uri="{FF2B5EF4-FFF2-40B4-BE49-F238E27FC236}">
                <a16:creationId xmlns:a16="http://schemas.microsoft.com/office/drawing/2014/main" id="{C39D60AB-2D65-1E86-92CD-CEC739A216CB}"/>
              </a:ext>
            </a:extLst>
          </p:cNvPr>
          <p:cNvSpPr txBox="1"/>
          <p:nvPr/>
        </p:nvSpPr>
        <p:spPr>
          <a:xfrm>
            <a:off x="9692640" y="4206240"/>
            <a:ext cx="66751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8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Human Oversight</a:t>
            </a:r>
          </a:p>
        </p:txBody>
      </p:sp>
      <p:sp>
        <p:nvSpPr>
          <p:cNvPr id="14" name="TextBox24">
            <a:extLst>
              <a:ext uri="{FF2B5EF4-FFF2-40B4-BE49-F238E27FC236}">
                <a16:creationId xmlns:a16="http://schemas.microsoft.com/office/drawing/2014/main" id="{70995DAD-AEED-71BE-8920-1CC7B8641B59}"/>
              </a:ext>
            </a:extLst>
          </p:cNvPr>
          <p:cNvSpPr txBox="1"/>
          <p:nvPr/>
        </p:nvSpPr>
        <p:spPr>
          <a:xfrm>
            <a:off x="9692640" y="4754880"/>
            <a:ext cx="6675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Flag borderline cases for manual review before final decision. Required under </a:t>
            </a:r>
            <a:r>
              <a:rPr lang="en-GB" sz="21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GDPR Art. 22 </a:t>
            </a:r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prevent purely automated legal effects.</a:t>
            </a:r>
          </a:p>
        </p:txBody>
      </p:sp>
      <p:sp>
        <p:nvSpPr>
          <p:cNvPr id="15" name="Rect20">
            <a:extLst>
              <a:ext uri="{FF2B5EF4-FFF2-40B4-BE49-F238E27FC236}">
                <a16:creationId xmlns:a16="http://schemas.microsoft.com/office/drawing/2014/main" id="{F1372EBB-10F9-2F6A-4121-55E5B11B5350}"/>
              </a:ext>
            </a:extLst>
          </p:cNvPr>
          <p:cNvSpPr/>
          <p:nvPr/>
        </p:nvSpPr>
        <p:spPr>
          <a:xfrm>
            <a:off x="621792" y="6492240"/>
            <a:ext cx="7863840" cy="30175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Rect21">
            <a:extLst>
              <a:ext uri="{FF2B5EF4-FFF2-40B4-BE49-F238E27FC236}">
                <a16:creationId xmlns:a16="http://schemas.microsoft.com/office/drawing/2014/main" id="{5BA580AC-AA40-7BEA-421C-8B43974B67BD}"/>
              </a:ext>
            </a:extLst>
          </p:cNvPr>
          <p:cNvSpPr/>
          <p:nvPr/>
        </p:nvSpPr>
        <p:spPr>
          <a:xfrm>
            <a:off x="621792" y="6492240"/>
            <a:ext cx="731520" cy="3017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22">
            <a:extLst>
              <a:ext uri="{FF2B5EF4-FFF2-40B4-BE49-F238E27FC236}">
                <a16:creationId xmlns:a16="http://schemas.microsoft.com/office/drawing/2014/main" id="{ACBE425F-E80A-C1C5-4D4A-C7F5C9247949}"/>
              </a:ext>
            </a:extLst>
          </p:cNvPr>
          <p:cNvSpPr txBox="1"/>
          <p:nvPr/>
        </p:nvSpPr>
        <p:spPr>
          <a:xfrm>
            <a:off x="1536192" y="6711696"/>
            <a:ext cx="6675120" cy="7315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 defTabSz="1828800" hangingPunct="1"/>
            <a:r>
              <a:rPr lang="en-GB" sz="44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</a:p>
        </p:txBody>
      </p:sp>
      <p:sp>
        <p:nvSpPr>
          <p:cNvPr id="18" name="TextBox23">
            <a:extLst>
              <a:ext uri="{FF2B5EF4-FFF2-40B4-BE49-F238E27FC236}">
                <a16:creationId xmlns:a16="http://schemas.microsoft.com/office/drawing/2014/main" id="{154AF36B-BC07-1FD5-8DA1-E8977B42CD99}"/>
              </a:ext>
            </a:extLst>
          </p:cNvPr>
          <p:cNvSpPr txBox="1"/>
          <p:nvPr/>
        </p:nvSpPr>
        <p:spPr>
          <a:xfrm>
            <a:off x="1536192" y="7406640"/>
            <a:ext cx="66751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8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Consent &amp; Transparency</a:t>
            </a:r>
          </a:p>
        </p:txBody>
      </p:sp>
      <p:sp>
        <p:nvSpPr>
          <p:cNvPr id="19" name="TextBox24">
            <a:extLst>
              <a:ext uri="{FF2B5EF4-FFF2-40B4-BE49-F238E27FC236}">
                <a16:creationId xmlns:a16="http://schemas.microsoft.com/office/drawing/2014/main" id="{1D720130-E760-B04F-4F92-284C5DFD9D4E}"/>
              </a:ext>
            </a:extLst>
          </p:cNvPr>
          <p:cNvSpPr txBox="1"/>
          <p:nvPr/>
        </p:nvSpPr>
        <p:spPr>
          <a:xfrm>
            <a:off x="1536192" y="7955280"/>
            <a:ext cx="6675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Inform applicants an algorithm evaluates their application and obtain explicit consent. Currently ZERO consent records exist in the dataset.</a:t>
            </a:r>
          </a:p>
        </p:txBody>
      </p:sp>
      <p:sp>
        <p:nvSpPr>
          <p:cNvPr id="20" name="Rect20">
            <a:extLst>
              <a:ext uri="{FF2B5EF4-FFF2-40B4-BE49-F238E27FC236}">
                <a16:creationId xmlns:a16="http://schemas.microsoft.com/office/drawing/2014/main" id="{459CEC78-A9E3-284E-0CA8-3CBFCA5A85ED}"/>
              </a:ext>
            </a:extLst>
          </p:cNvPr>
          <p:cNvSpPr/>
          <p:nvPr/>
        </p:nvSpPr>
        <p:spPr>
          <a:xfrm>
            <a:off x="8778240" y="6492240"/>
            <a:ext cx="7863840" cy="30175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21">
            <a:extLst>
              <a:ext uri="{FF2B5EF4-FFF2-40B4-BE49-F238E27FC236}">
                <a16:creationId xmlns:a16="http://schemas.microsoft.com/office/drawing/2014/main" id="{86759997-3E8F-7E38-DDE9-542ED394BE5E}"/>
              </a:ext>
            </a:extLst>
          </p:cNvPr>
          <p:cNvSpPr/>
          <p:nvPr/>
        </p:nvSpPr>
        <p:spPr>
          <a:xfrm>
            <a:off x="8778240" y="6492240"/>
            <a:ext cx="731520" cy="3017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TextBox22">
            <a:extLst>
              <a:ext uri="{FF2B5EF4-FFF2-40B4-BE49-F238E27FC236}">
                <a16:creationId xmlns:a16="http://schemas.microsoft.com/office/drawing/2014/main" id="{A1748BF9-02E0-A033-3C5A-6FAF63FC1FCE}"/>
              </a:ext>
            </a:extLst>
          </p:cNvPr>
          <p:cNvSpPr txBox="1"/>
          <p:nvPr/>
        </p:nvSpPr>
        <p:spPr>
          <a:xfrm>
            <a:off x="9692640" y="6711696"/>
            <a:ext cx="6675120" cy="7315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 defTabSz="1828800" hangingPunct="1"/>
            <a:r>
              <a:rPr lang="en-GB" sz="44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</a:p>
        </p:txBody>
      </p:sp>
      <p:sp>
        <p:nvSpPr>
          <p:cNvPr id="23" name="TextBox23">
            <a:extLst>
              <a:ext uri="{FF2B5EF4-FFF2-40B4-BE49-F238E27FC236}">
                <a16:creationId xmlns:a16="http://schemas.microsoft.com/office/drawing/2014/main" id="{B7E9B446-17F8-1D8F-EC3B-566DE00A4BBA}"/>
              </a:ext>
            </a:extLst>
          </p:cNvPr>
          <p:cNvSpPr txBox="1"/>
          <p:nvPr/>
        </p:nvSpPr>
        <p:spPr>
          <a:xfrm>
            <a:off x="9692640" y="7406640"/>
            <a:ext cx="66751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8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Retention Policy</a:t>
            </a:r>
          </a:p>
        </p:txBody>
      </p:sp>
      <p:sp>
        <p:nvSpPr>
          <p:cNvPr id="24" name="TextBox24">
            <a:extLst>
              <a:ext uri="{FF2B5EF4-FFF2-40B4-BE49-F238E27FC236}">
                <a16:creationId xmlns:a16="http://schemas.microsoft.com/office/drawing/2014/main" id="{71182DB3-D2AD-E5E8-FFAE-161D4896E49E}"/>
              </a:ext>
            </a:extLst>
          </p:cNvPr>
          <p:cNvSpPr txBox="1"/>
          <p:nvPr/>
        </p:nvSpPr>
        <p:spPr>
          <a:xfrm>
            <a:off x="9692640" y="7955280"/>
            <a:ext cx="6675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 max 5-year retention period. After expiry, delete or fully anonymise all PII. Addresses </a:t>
            </a:r>
            <a:r>
              <a:rPr lang="en-GB" sz="21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GDPR Art. 5</a:t>
            </a:r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Storage Limitation.</a:t>
            </a:r>
          </a:p>
        </p:txBody>
      </p:sp>
      <p:sp>
        <p:nvSpPr>
          <p:cNvPr id="25" name="TextBox30">
            <a:extLst>
              <a:ext uri="{FF2B5EF4-FFF2-40B4-BE49-F238E27FC236}">
                <a16:creationId xmlns:a16="http://schemas.microsoft.com/office/drawing/2014/main" id="{F7062F1E-6282-6412-C976-5A3CD46B9FB5}"/>
              </a:ext>
            </a:extLst>
          </p:cNvPr>
          <p:cNvSpPr txBox="1"/>
          <p:nvPr/>
        </p:nvSpPr>
        <p:spPr>
          <a:xfrm>
            <a:off x="17534965" y="6628094"/>
            <a:ext cx="5581067" cy="288166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 defTabSz="1828800" hangingPunct="1">
              <a:buFontTx/>
              <a:buChar char="-"/>
            </a:pPr>
            <a:r>
              <a:rPr lang="en-GB" sz="25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controls are legally required — NOT optional!</a:t>
            </a:r>
          </a:p>
          <a:p>
            <a:pPr algn="l" defTabSz="1828800" hangingPunct="1"/>
            <a:endParaRPr lang="en-GB" sz="250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l" defTabSz="1828800" hangingPunct="1">
              <a:buFontTx/>
              <a:buChar char="-"/>
            </a:pPr>
            <a:r>
              <a:rPr lang="en-GB" sz="25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Non-compliance with the EU AI Act carries fines up to €30M or 6% of global annual turnover!</a:t>
            </a:r>
          </a:p>
          <a:p>
            <a:pPr marL="342900" indent="-342900" algn="l" defTabSz="1828800" hangingPunct="1">
              <a:buFontTx/>
              <a:buChar char="-"/>
            </a:pPr>
            <a:endParaRPr lang="en-GB" sz="250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CCF183-C7F3-E678-71C7-22827FAFFFAF}"/>
              </a:ext>
            </a:extLst>
          </p:cNvPr>
          <p:cNvSpPr txBox="1"/>
          <p:nvPr/>
        </p:nvSpPr>
        <p:spPr>
          <a:xfrm>
            <a:off x="19051118" y="8668512"/>
            <a:ext cx="1780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DE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Rect21">
            <a:extLst>
              <a:ext uri="{FF2B5EF4-FFF2-40B4-BE49-F238E27FC236}">
                <a16:creationId xmlns:a16="http://schemas.microsoft.com/office/drawing/2014/main" id="{60A74183-CB03-4E0B-4D11-54D6F4EFC668}"/>
              </a:ext>
            </a:extLst>
          </p:cNvPr>
          <p:cNvSpPr/>
          <p:nvPr/>
        </p:nvSpPr>
        <p:spPr>
          <a:xfrm>
            <a:off x="17124164" y="6446520"/>
            <a:ext cx="731520" cy="3017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7B6CE21-8B37-21C5-D48C-425849C2B526}"/>
              </a:ext>
            </a:extLst>
          </p:cNvPr>
          <p:cNvCxnSpPr>
            <a:cxnSpLocks/>
          </p:cNvCxnSpPr>
          <p:nvPr/>
        </p:nvCxnSpPr>
        <p:spPr>
          <a:xfrm>
            <a:off x="16897698" y="3291840"/>
            <a:ext cx="0" cy="623310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05500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E18F-092A-CD54-4470-098B344CA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Stat11">
            <a:extLst>
              <a:ext uri="{FF2B5EF4-FFF2-40B4-BE49-F238E27FC236}">
                <a16:creationId xmlns:a16="http://schemas.microsoft.com/office/drawing/2014/main" id="{6C713363-6FBE-C6A3-1EA9-F632895879D8}"/>
              </a:ext>
            </a:extLst>
          </p:cNvPr>
          <p:cNvSpPr txBox="1"/>
          <p:nvPr/>
        </p:nvSpPr>
        <p:spPr>
          <a:xfrm>
            <a:off x="8235072" y="2933251"/>
            <a:ext cx="7200000" cy="7568005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29184" tIns="274320" rIns="329184" bIns="182880">
            <a:normAutofit/>
          </a:bodyPr>
          <a:lstStyle/>
          <a:p>
            <a:pPr defTabSz="1828800" hangingPunct="1"/>
            <a:r>
              <a:rPr lang="en-GB" sz="6000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BIAS</a:t>
            </a:r>
          </a:p>
          <a:p>
            <a:pPr defTabSz="1828800" hangingPunct="1"/>
            <a:endParaRPr lang="en-GB" sz="2100" b="0" kern="1200" dirty="0">
              <a:solidFill>
                <a:srgbClr val="CCCCC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WStat12">
            <a:extLst>
              <a:ext uri="{FF2B5EF4-FFF2-40B4-BE49-F238E27FC236}">
                <a16:creationId xmlns:a16="http://schemas.microsoft.com/office/drawing/2014/main" id="{C64B72FC-E1A7-5FAF-A27A-BD1BFA452052}"/>
              </a:ext>
            </a:extLst>
          </p:cNvPr>
          <p:cNvSpPr txBox="1"/>
          <p:nvPr/>
        </p:nvSpPr>
        <p:spPr>
          <a:xfrm>
            <a:off x="15848352" y="2933252"/>
            <a:ext cx="7200000" cy="8233846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29184" tIns="274320" rIns="329184" bIns="182880">
            <a:normAutofit/>
          </a:bodyPr>
          <a:lstStyle/>
          <a:p>
            <a:pPr defTabSz="1828800" hangingPunct="1"/>
            <a:r>
              <a:rPr lang="en-GB" sz="6000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GOVERNANCE</a:t>
            </a:r>
            <a:endParaRPr lang="en-GB" sz="2300" b="0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WStat10">
            <a:extLst>
              <a:ext uri="{FF2B5EF4-FFF2-40B4-BE49-F238E27FC236}">
                <a16:creationId xmlns:a16="http://schemas.microsoft.com/office/drawing/2014/main" id="{E9C93622-626E-C938-B9A9-56AAEBA526F8}"/>
              </a:ext>
            </a:extLst>
          </p:cNvPr>
          <p:cNvSpPr txBox="1"/>
          <p:nvPr/>
        </p:nvSpPr>
        <p:spPr>
          <a:xfrm>
            <a:off x="621792" y="2933252"/>
            <a:ext cx="7200000" cy="7568004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29184" tIns="274320" rIns="329184" bIns="182880">
            <a:normAutofit/>
          </a:bodyPr>
          <a:lstStyle/>
          <a:p>
            <a:pPr defTabSz="1828800" hangingPunct="1"/>
            <a:r>
              <a:rPr lang="en-GB" sz="6000" kern="1200" dirty="0">
                <a:solidFill>
                  <a:srgbClr val="1A1A2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QUALITY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536FE2-E86D-42A9-DF25-D16411F69A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r>
              <a:rPr lang="en-DE" b="1" dirty="0"/>
              <a:t>| 09.03.2026</a:t>
            </a:r>
            <a:endParaRPr lang="en-GB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FCDD3-CF50-A8B9-8053-4454BA0ECF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z="6400" dirty="0" err="1"/>
              <a:t>NovaCred</a:t>
            </a:r>
            <a:r>
              <a:rPr lang="en-GB" sz="6400" dirty="0"/>
              <a:t> Must Act Now — The Evidence Is Clear</a:t>
            </a:r>
          </a:p>
          <a:p>
            <a:endParaRPr lang="en-GB" sz="6400" dirty="0"/>
          </a:p>
        </p:txBody>
      </p:sp>
      <p:sp>
        <p:nvSpPr>
          <p:cNvPr id="14" name="ActionBox">
            <a:extLst>
              <a:ext uri="{FF2B5EF4-FFF2-40B4-BE49-F238E27FC236}">
                <a16:creationId xmlns:a16="http://schemas.microsoft.com/office/drawing/2014/main" id="{09CD3D58-F47F-BCED-C2A5-12E67A034845}"/>
              </a:ext>
            </a:extLst>
          </p:cNvPr>
          <p:cNvSpPr txBox="1"/>
          <p:nvPr/>
        </p:nvSpPr>
        <p:spPr>
          <a:xfrm>
            <a:off x="2618508" y="5438957"/>
            <a:ext cx="5123723" cy="1419043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algn="l"/>
            <a:r>
              <a:rPr lang="en-GB" b="0" dirty="0"/>
              <a:t>production-ready after remediation (99.6% retained)</a:t>
            </a:r>
          </a:p>
        </p:txBody>
      </p:sp>
      <p:sp>
        <p:nvSpPr>
          <p:cNvPr id="17" name="ActionBox">
            <a:extLst>
              <a:ext uri="{FF2B5EF4-FFF2-40B4-BE49-F238E27FC236}">
                <a16:creationId xmlns:a16="http://schemas.microsoft.com/office/drawing/2014/main" id="{9BBA76CD-952F-F612-84BD-348C171BBE45}"/>
              </a:ext>
            </a:extLst>
          </p:cNvPr>
          <p:cNvSpPr txBox="1"/>
          <p:nvPr/>
        </p:nvSpPr>
        <p:spPr>
          <a:xfrm>
            <a:off x="621792" y="10501257"/>
            <a:ext cx="22426560" cy="1087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anchor="ctr">
            <a:normAutofit/>
          </a:bodyPr>
          <a:lstStyle/>
          <a:p>
            <a:pPr defTabSz="1828800" hangingPunct="1"/>
            <a:r>
              <a:rPr lang="en-GB" sz="3600" u="sng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 live only when DI &gt; 0.80 and Governance Measures are implemented!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19" name="Rect21">
            <a:extLst>
              <a:ext uri="{FF2B5EF4-FFF2-40B4-BE49-F238E27FC236}">
                <a16:creationId xmlns:a16="http://schemas.microsoft.com/office/drawing/2014/main" id="{49BEC632-7A6D-4316-5703-7BD1A21B7EB7}"/>
              </a:ext>
            </a:extLst>
          </p:cNvPr>
          <p:cNvSpPr/>
          <p:nvPr/>
        </p:nvSpPr>
        <p:spPr>
          <a:xfrm>
            <a:off x="621792" y="2933250"/>
            <a:ext cx="731520" cy="1561911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Rect21">
            <a:extLst>
              <a:ext uri="{FF2B5EF4-FFF2-40B4-BE49-F238E27FC236}">
                <a16:creationId xmlns:a16="http://schemas.microsoft.com/office/drawing/2014/main" id="{E14E08C6-257A-F64C-D574-D251DD6AE43C}"/>
              </a:ext>
            </a:extLst>
          </p:cNvPr>
          <p:cNvSpPr/>
          <p:nvPr/>
        </p:nvSpPr>
        <p:spPr>
          <a:xfrm>
            <a:off x="8235072" y="2933250"/>
            <a:ext cx="731520" cy="1561911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21">
            <a:extLst>
              <a:ext uri="{FF2B5EF4-FFF2-40B4-BE49-F238E27FC236}">
                <a16:creationId xmlns:a16="http://schemas.microsoft.com/office/drawing/2014/main" id="{D03803DD-A458-0C72-5C0C-8E26822931F7}"/>
              </a:ext>
            </a:extLst>
          </p:cNvPr>
          <p:cNvSpPr/>
          <p:nvPr/>
        </p:nvSpPr>
        <p:spPr>
          <a:xfrm>
            <a:off x="15848352" y="2933250"/>
            <a:ext cx="731520" cy="1561911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B76033-4BB0-3154-0D66-CEE8FAFA1C24}"/>
              </a:ext>
            </a:extLst>
          </p:cNvPr>
          <p:cNvSpPr txBox="1"/>
          <p:nvPr/>
        </p:nvSpPr>
        <p:spPr>
          <a:xfrm>
            <a:off x="2618508" y="7293964"/>
            <a:ext cx="5203284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GB" dirty="0"/>
              <a:t>deploy validation + cleaning pipeline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AE56F9-2DDF-23D5-EBDC-1E6C6A698498}"/>
              </a:ext>
            </a:extLst>
          </p:cNvPr>
          <p:cNvSpPr txBox="1"/>
          <p:nvPr/>
        </p:nvSpPr>
        <p:spPr>
          <a:xfrm>
            <a:off x="10315872" y="7293964"/>
            <a:ext cx="5119200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GB" dirty="0"/>
              <a:t>remove/coarsen ZIP + monitor DI (target ≥ 0.80)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69E8F4-4C5E-0C71-D2F1-63EE1C42ECC0}"/>
              </a:ext>
            </a:extLst>
          </p:cNvPr>
          <p:cNvSpPr txBox="1"/>
          <p:nvPr/>
        </p:nvSpPr>
        <p:spPr>
          <a:xfrm>
            <a:off x="10315872" y="5438957"/>
            <a:ext cx="5119200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GB" b="0" dirty="0"/>
              <a:t>DI below 0.80 (gender 0.77, age 0.62); ZIP proxy risk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0D497A-BF08-31DA-14E0-E8EBB361A6D8}"/>
              </a:ext>
            </a:extLst>
          </p:cNvPr>
          <p:cNvSpPr txBox="1"/>
          <p:nvPr/>
        </p:nvSpPr>
        <p:spPr>
          <a:xfrm>
            <a:off x="17929152" y="5438957"/>
            <a:ext cx="5119200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GB" b="0" dirty="0"/>
              <a:t>consent missing (0/500) + no audit/retention/erasure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DE7976-C8CE-98DC-23A6-1F66108F764B}"/>
              </a:ext>
            </a:extLst>
          </p:cNvPr>
          <p:cNvSpPr txBox="1"/>
          <p:nvPr/>
        </p:nvSpPr>
        <p:spPr>
          <a:xfrm>
            <a:off x="17929152" y="7155680"/>
            <a:ext cx="5119200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GB" dirty="0"/>
              <a:t>Implement audit logging + human oversight + consent tracking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B75865-6066-648C-A65E-8E134DE86FE4}"/>
              </a:ext>
            </a:extLst>
          </p:cNvPr>
          <p:cNvGrpSpPr/>
          <p:nvPr/>
        </p:nvGrpSpPr>
        <p:grpSpPr>
          <a:xfrm>
            <a:off x="1447362" y="5454896"/>
            <a:ext cx="1044000" cy="1044000"/>
            <a:chOff x="1477224" y="5442728"/>
            <a:chExt cx="1044000" cy="1044000"/>
          </a:xfrm>
        </p:grpSpPr>
        <p:sp>
          <p:nvSpPr>
            <p:cNvPr id="39" name="Rect21">
              <a:extLst>
                <a:ext uri="{FF2B5EF4-FFF2-40B4-BE49-F238E27FC236}">
                  <a16:creationId xmlns:a16="http://schemas.microsoft.com/office/drawing/2014/main" id="{94878ABC-6A4B-1E10-D37D-B7B2D8297930}"/>
                </a:ext>
              </a:extLst>
            </p:cNvPr>
            <p:cNvSpPr/>
            <p:nvPr/>
          </p:nvSpPr>
          <p:spPr>
            <a:xfrm>
              <a:off x="1477224" y="5442728"/>
              <a:ext cx="1044000" cy="104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1A1A2E"/>
              </a:solidFill>
            </a:ln>
          </p:spPr>
          <p:txBody>
            <a:bodyPr/>
            <a:lstStyle/>
            <a:p>
              <a:pPr algn="l" defTabSz="1828800" hangingPunct="1"/>
              <a:endParaRPr sz="3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5" name="Graphic 4" descr="Production outline">
              <a:extLst>
                <a:ext uri="{FF2B5EF4-FFF2-40B4-BE49-F238E27FC236}">
                  <a16:creationId xmlns:a16="http://schemas.microsoft.com/office/drawing/2014/main" id="{ED84F1FA-A531-3698-D2BC-742D5D03A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54740" y="5489588"/>
              <a:ext cx="914400" cy="9144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42D9220-526C-D254-EC07-901A9C95F339}"/>
              </a:ext>
            </a:extLst>
          </p:cNvPr>
          <p:cNvGrpSpPr/>
          <p:nvPr/>
        </p:nvGrpSpPr>
        <p:grpSpPr>
          <a:xfrm>
            <a:off x="9188744" y="5492389"/>
            <a:ext cx="1044000" cy="1044000"/>
            <a:chOff x="9329745" y="5474449"/>
            <a:chExt cx="1044000" cy="1044000"/>
          </a:xfrm>
        </p:grpSpPr>
        <p:sp>
          <p:nvSpPr>
            <p:cNvPr id="37" name="Rect21">
              <a:extLst>
                <a:ext uri="{FF2B5EF4-FFF2-40B4-BE49-F238E27FC236}">
                  <a16:creationId xmlns:a16="http://schemas.microsoft.com/office/drawing/2014/main" id="{D9CEB16E-08D4-3DAF-0138-56256553EA38}"/>
                </a:ext>
              </a:extLst>
            </p:cNvPr>
            <p:cNvSpPr/>
            <p:nvPr/>
          </p:nvSpPr>
          <p:spPr>
            <a:xfrm>
              <a:off x="9329745" y="5474449"/>
              <a:ext cx="1044000" cy="104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1A1A2E"/>
              </a:solidFill>
            </a:ln>
          </p:spPr>
          <p:txBody>
            <a:bodyPr/>
            <a:lstStyle/>
            <a:p>
              <a:pPr algn="l" defTabSz="1828800" hangingPunct="1"/>
              <a:endParaRPr sz="3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9" name="Graphic 8" descr="Siren outline">
              <a:extLst>
                <a:ext uri="{FF2B5EF4-FFF2-40B4-BE49-F238E27FC236}">
                  <a16:creationId xmlns:a16="http://schemas.microsoft.com/office/drawing/2014/main" id="{E77D26C2-8DD3-482A-1416-8C7F9FBC3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94545" y="5489588"/>
              <a:ext cx="914400" cy="9144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805A17-7BC1-B82D-EFC5-502EEE196F3E}"/>
              </a:ext>
            </a:extLst>
          </p:cNvPr>
          <p:cNvGrpSpPr/>
          <p:nvPr/>
        </p:nvGrpSpPr>
        <p:grpSpPr>
          <a:xfrm>
            <a:off x="16825260" y="7318546"/>
            <a:ext cx="1044000" cy="1044000"/>
            <a:chOff x="16949952" y="7357296"/>
            <a:chExt cx="1044000" cy="1044000"/>
          </a:xfrm>
        </p:grpSpPr>
        <p:sp>
          <p:nvSpPr>
            <p:cNvPr id="24" name="Rect21">
              <a:extLst>
                <a:ext uri="{FF2B5EF4-FFF2-40B4-BE49-F238E27FC236}">
                  <a16:creationId xmlns:a16="http://schemas.microsoft.com/office/drawing/2014/main" id="{498A9032-BA5F-AD4D-0660-5DB5B665587C}"/>
                </a:ext>
              </a:extLst>
            </p:cNvPr>
            <p:cNvSpPr/>
            <p:nvPr/>
          </p:nvSpPr>
          <p:spPr>
            <a:xfrm>
              <a:off x="16949952" y="7357296"/>
              <a:ext cx="1044000" cy="104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1A1A2E"/>
              </a:solidFill>
            </a:ln>
          </p:spPr>
          <p:txBody>
            <a:bodyPr/>
            <a:lstStyle/>
            <a:p>
              <a:pPr algn="l" defTabSz="1828800" hangingPunct="1"/>
              <a:endParaRPr sz="3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5" name="Graphic 14" descr="Tick outline">
              <a:extLst>
                <a:ext uri="{FF2B5EF4-FFF2-40B4-BE49-F238E27FC236}">
                  <a16:creationId xmlns:a16="http://schemas.microsoft.com/office/drawing/2014/main" id="{0AA595BD-AA58-E848-30AE-519E71CE7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7014752" y="7422743"/>
              <a:ext cx="914400" cy="914400"/>
            </a:xfrm>
            <a:prstGeom prst="rect">
              <a:avLst/>
            </a:prstGeom>
          </p:spPr>
        </p:pic>
      </p:grpSp>
      <p:sp>
        <p:nvSpPr>
          <p:cNvPr id="22" name="Rect21">
            <a:extLst>
              <a:ext uri="{FF2B5EF4-FFF2-40B4-BE49-F238E27FC236}">
                <a16:creationId xmlns:a16="http://schemas.microsoft.com/office/drawing/2014/main" id="{415075B8-DF40-4171-8D4B-675BC98681FC}"/>
              </a:ext>
            </a:extLst>
          </p:cNvPr>
          <p:cNvSpPr/>
          <p:nvPr/>
        </p:nvSpPr>
        <p:spPr>
          <a:xfrm>
            <a:off x="16825260" y="5489588"/>
            <a:ext cx="1044000" cy="1044000"/>
          </a:xfrm>
          <a:prstGeom prst="rect">
            <a:avLst/>
          </a:prstGeom>
          <a:solidFill>
            <a:schemeClr val="bg1"/>
          </a:solidFill>
          <a:ln w="19050">
            <a:solidFill>
              <a:srgbClr val="1A1A2E"/>
            </a:solidFill>
          </a:ln>
        </p:spPr>
        <p:txBody>
          <a:bodyPr/>
          <a:lstStyle/>
          <a:p>
            <a:pPr algn="l" defTabSz="1828800" hangingPunct="1"/>
            <a:endParaRPr sz="3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8" name="Graphic 17" descr="Handshake outline">
            <a:extLst>
              <a:ext uri="{FF2B5EF4-FFF2-40B4-BE49-F238E27FC236}">
                <a16:creationId xmlns:a16="http://schemas.microsoft.com/office/drawing/2014/main" id="{92D64027-1966-6D33-01A2-A5A6F03797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913296" y="5554388"/>
            <a:ext cx="914400" cy="9144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683A9D6-5D45-9B77-FE02-44D7D7E14B18}"/>
              </a:ext>
            </a:extLst>
          </p:cNvPr>
          <p:cNvGrpSpPr/>
          <p:nvPr/>
        </p:nvGrpSpPr>
        <p:grpSpPr>
          <a:xfrm>
            <a:off x="9188744" y="7318546"/>
            <a:ext cx="1044000" cy="1044000"/>
            <a:chOff x="16949952" y="7357296"/>
            <a:chExt cx="1044000" cy="1044000"/>
          </a:xfrm>
        </p:grpSpPr>
        <p:sp>
          <p:nvSpPr>
            <p:cNvPr id="32" name="Rect21">
              <a:extLst>
                <a:ext uri="{FF2B5EF4-FFF2-40B4-BE49-F238E27FC236}">
                  <a16:creationId xmlns:a16="http://schemas.microsoft.com/office/drawing/2014/main" id="{9A6FDDEF-4954-82CC-64EC-95913FAA5EBA}"/>
                </a:ext>
              </a:extLst>
            </p:cNvPr>
            <p:cNvSpPr/>
            <p:nvPr/>
          </p:nvSpPr>
          <p:spPr>
            <a:xfrm>
              <a:off x="16949952" y="7357296"/>
              <a:ext cx="1044000" cy="104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1A1A2E"/>
              </a:solidFill>
            </a:ln>
          </p:spPr>
          <p:txBody>
            <a:bodyPr/>
            <a:lstStyle/>
            <a:p>
              <a:pPr algn="l" defTabSz="1828800" hangingPunct="1"/>
              <a:endParaRPr sz="3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3" name="Graphic 32" descr="Tick outline">
              <a:extLst>
                <a:ext uri="{FF2B5EF4-FFF2-40B4-BE49-F238E27FC236}">
                  <a16:creationId xmlns:a16="http://schemas.microsoft.com/office/drawing/2014/main" id="{58923807-9A26-3E8E-1FE9-2FE891A14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7014752" y="7422743"/>
              <a:ext cx="914400" cy="9144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F21776D-EA85-3AF9-B7E2-22C36A9FEBD5}"/>
              </a:ext>
            </a:extLst>
          </p:cNvPr>
          <p:cNvGrpSpPr/>
          <p:nvPr/>
        </p:nvGrpSpPr>
        <p:grpSpPr>
          <a:xfrm>
            <a:off x="1447362" y="7318546"/>
            <a:ext cx="1044000" cy="1044000"/>
            <a:chOff x="16949952" y="7357296"/>
            <a:chExt cx="1044000" cy="1044000"/>
          </a:xfrm>
        </p:grpSpPr>
        <p:sp>
          <p:nvSpPr>
            <p:cNvPr id="35" name="Rect21">
              <a:extLst>
                <a:ext uri="{FF2B5EF4-FFF2-40B4-BE49-F238E27FC236}">
                  <a16:creationId xmlns:a16="http://schemas.microsoft.com/office/drawing/2014/main" id="{55592E4B-13CF-3CFD-FE1D-7DA9554FF64F}"/>
                </a:ext>
              </a:extLst>
            </p:cNvPr>
            <p:cNvSpPr/>
            <p:nvPr/>
          </p:nvSpPr>
          <p:spPr>
            <a:xfrm>
              <a:off x="16949952" y="7357296"/>
              <a:ext cx="1044000" cy="104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1A1A2E"/>
              </a:solidFill>
            </a:ln>
          </p:spPr>
          <p:txBody>
            <a:bodyPr/>
            <a:lstStyle/>
            <a:p>
              <a:pPr algn="l" defTabSz="1828800" hangingPunct="1"/>
              <a:endParaRPr sz="3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6" name="Graphic 35" descr="Tick outline">
              <a:extLst>
                <a:ext uri="{FF2B5EF4-FFF2-40B4-BE49-F238E27FC236}">
                  <a16:creationId xmlns:a16="http://schemas.microsoft.com/office/drawing/2014/main" id="{A56F18EC-5AA0-4B6D-4FBF-51050AAD5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7014752" y="7422743"/>
              <a:ext cx="914400" cy="914400"/>
            </a:xfrm>
            <a:prstGeom prst="rect">
              <a:avLst/>
            </a:prstGeom>
          </p:spPr>
        </p:pic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05153F4-F372-BC41-6CBC-20ADEE6A2BF7}"/>
              </a:ext>
            </a:extLst>
          </p:cNvPr>
          <p:cNvCxnSpPr>
            <a:cxnSpLocks/>
          </p:cNvCxnSpPr>
          <p:nvPr/>
        </p:nvCxnSpPr>
        <p:spPr>
          <a:xfrm>
            <a:off x="1353312" y="4495161"/>
            <a:ext cx="646848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AD62D5E-5691-42B5-1CB3-6F6B60A82D1B}"/>
              </a:ext>
            </a:extLst>
          </p:cNvPr>
          <p:cNvCxnSpPr>
            <a:cxnSpLocks/>
          </p:cNvCxnSpPr>
          <p:nvPr/>
        </p:nvCxnSpPr>
        <p:spPr>
          <a:xfrm>
            <a:off x="8954124" y="4502087"/>
            <a:ext cx="646848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47C97C5-FF32-E4F0-D60E-3FC15CEAC337}"/>
              </a:ext>
            </a:extLst>
          </p:cNvPr>
          <p:cNvCxnSpPr>
            <a:cxnSpLocks/>
          </p:cNvCxnSpPr>
          <p:nvPr/>
        </p:nvCxnSpPr>
        <p:spPr>
          <a:xfrm>
            <a:off x="15848352" y="4495161"/>
            <a:ext cx="720000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1963886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079C51-8505-95BF-63A8-36EFB6D9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CCBF4-2BF0-C220-8415-7D793B463E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r>
              <a:rPr lang="en-DE" b="1" dirty="0"/>
              <a:t>| 09.03.2026</a:t>
            </a:r>
            <a:endParaRPr lang="en-GB" b="1" dirty="0"/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3249D-FD13-25E1-C859-5718DB0F65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WStat10">
            <a:extLst>
              <a:ext uri="{FF2B5EF4-FFF2-40B4-BE49-F238E27FC236}">
                <a16:creationId xmlns:a16="http://schemas.microsoft.com/office/drawing/2014/main" id="{3FD5DA58-B360-0B49-8B22-17E3F2366B91}"/>
              </a:ext>
            </a:extLst>
          </p:cNvPr>
          <p:cNvSpPr txBox="1"/>
          <p:nvPr/>
        </p:nvSpPr>
        <p:spPr>
          <a:xfrm>
            <a:off x="621792" y="4206240"/>
            <a:ext cx="7200000" cy="2377440"/>
          </a:xfrm>
          <a:prstGeom prst="rect">
            <a:avLst/>
          </a:prstGeom>
          <a:solidFill>
            <a:srgbClr val="232323"/>
          </a:solidFill>
        </p:spPr>
        <p:txBody>
          <a:bodyPr wrap="square" lIns="329184" tIns="274320" rIns="329184" bIns="182880">
            <a:normAutofit/>
          </a:bodyPr>
          <a:lstStyle/>
          <a:p>
            <a:pPr defTabSz="1828800" hangingPunct="1"/>
            <a:r>
              <a:rPr lang="en-GB" sz="8000" kern="1200" dirty="0">
                <a:solidFill>
                  <a:srgbClr val="7D233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QUALITY</a:t>
            </a:r>
          </a:p>
          <a:p>
            <a:r>
              <a:rPr lang="en-GB" sz="2100" b="0" dirty="0">
                <a:solidFill>
                  <a:srgbClr val="C3C3C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Production-ready after remediation</a:t>
            </a:r>
          </a:p>
        </p:txBody>
      </p:sp>
      <p:sp>
        <p:nvSpPr>
          <p:cNvPr id="7" name="WStat11">
            <a:extLst>
              <a:ext uri="{FF2B5EF4-FFF2-40B4-BE49-F238E27FC236}">
                <a16:creationId xmlns:a16="http://schemas.microsoft.com/office/drawing/2014/main" id="{0C41512D-AF17-97B7-48C4-DB6947148C8F}"/>
              </a:ext>
            </a:extLst>
          </p:cNvPr>
          <p:cNvSpPr txBox="1"/>
          <p:nvPr/>
        </p:nvSpPr>
        <p:spPr>
          <a:xfrm>
            <a:off x="8235072" y="4206240"/>
            <a:ext cx="7200000" cy="2377440"/>
          </a:xfrm>
          <a:prstGeom prst="rect">
            <a:avLst/>
          </a:prstGeom>
          <a:solidFill>
            <a:srgbClr val="232323"/>
          </a:solidFill>
        </p:spPr>
        <p:txBody>
          <a:bodyPr wrap="square" lIns="329184" tIns="274320" rIns="329184" bIns="182880">
            <a:normAutofit/>
          </a:bodyPr>
          <a:lstStyle/>
          <a:p>
            <a:pPr defTabSz="1828800" hangingPunct="1"/>
            <a:r>
              <a:rPr lang="en-GB" sz="8000" kern="1200" dirty="0">
                <a:solidFill>
                  <a:srgbClr val="7D233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BIAS</a:t>
            </a:r>
          </a:p>
          <a:p>
            <a:pPr defTabSz="1828800" hangingPunct="1"/>
            <a:r>
              <a:rPr lang="en-GB" sz="2100" b="0" kern="1200" dirty="0">
                <a:solidFill>
                  <a:srgbClr val="CCCCC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 DI / Gender DI — Below Legal Threshold</a:t>
            </a:r>
          </a:p>
          <a:p>
            <a:pPr defTabSz="1828800" hangingPunct="1"/>
            <a:endParaRPr lang="en-GB" sz="2100" b="0" kern="1200" dirty="0">
              <a:solidFill>
                <a:srgbClr val="CCCCC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WStat12">
            <a:extLst>
              <a:ext uri="{FF2B5EF4-FFF2-40B4-BE49-F238E27FC236}">
                <a16:creationId xmlns:a16="http://schemas.microsoft.com/office/drawing/2014/main" id="{81CDE3FF-954C-2FEE-480C-82A4CF214050}"/>
              </a:ext>
            </a:extLst>
          </p:cNvPr>
          <p:cNvSpPr txBox="1"/>
          <p:nvPr/>
        </p:nvSpPr>
        <p:spPr>
          <a:xfrm>
            <a:off x="15848352" y="4206240"/>
            <a:ext cx="7200000" cy="2377440"/>
          </a:xfrm>
          <a:prstGeom prst="rect">
            <a:avLst/>
          </a:prstGeom>
          <a:solidFill>
            <a:srgbClr val="232323"/>
          </a:solidFill>
        </p:spPr>
        <p:txBody>
          <a:bodyPr wrap="square" lIns="329184" tIns="274320" rIns="329184" bIns="182880">
            <a:normAutofit fontScale="92500"/>
          </a:bodyPr>
          <a:lstStyle/>
          <a:p>
            <a:pPr defTabSz="1828800" hangingPunct="1"/>
            <a:r>
              <a:rPr lang="en-GB" sz="8000" kern="1200" dirty="0">
                <a:solidFill>
                  <a:srgbClr val="7D233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GOVERNANCE</a:t>
            </a:r>
            <a:br>
              <a:rPr lang="en-GB" sz="2300" b="0" kern="1200" dirty="0">
                <a:solidFill>
                  <a:srgbClr val="CCCCC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300" b="0" kern="1200" dirty="0">
                <a:solidFill>
                  <a:srgbClr val="CCCCC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Records With Consent Field</a:t>
            </a:r>
          </a:p>
        </p:txBody>
      </p:sp>
      <p:sp>
        <p:nvSpPr>
          <p:cNvPr id="9" name="ActionBox">
            <a:extLst>
              <a:ext uri="{FF2B5EF4-FFF2-40B4-BE49-F238E27FC236}">
                <a16:creationId xmlns:a16="http://schemas.microsoft.com/office/drawing/2014/main" id="{D934C789-6564-E3A8-D361-C4C43A989E6A}"/>
              </a:ext>
            </a:extLst>
          </p:cNvPr>
          <p:cNvSpPr txBox="1"/>
          <p:nvPr/>
        </p:nvSpPr>
        <p:spPr>
          <a:xfrm>
            <a:off x="701352" y="7040880"/>
            <a:ext cx="7040880" cy="4023360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defTabSz="1828800" hangingPunct="1"/>
            <a:r>
              <a:rPr lang="en-GB" u="sng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Immediate Action 1</a:t>
            </a:r>
          </a:p>
          <a:p>
            <a:endParaRPr lang="en-GB" sz="3600" b="0" kern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2800" dirty="0">
                <a:solidFill>
                  <a:schemeClr val="bg1"/>
                </a:solidFill>
              </a:rPr>
              <a:t> Implement pipeline into production</a:t>
            </a:r>
          </a:p>
        </p:txBody>
      </p:sp>
      <p:sp>
        <p:nvSpPr>
          <p:cNvPr id="10" name="ActionBox">
            <a:extLst>
              <a:ext uri="{FF2B5EF4-FFF2-40B4-BE49-F238E27FC236}">
                <a16:creationId xmlns:a16="http://schemas.microsoft.com/office/drawing/2014/main" id="{ABB02E59-E20E-E603-2278-1498E98CC44C}"/>
              </a:ext>
            </a:extLst>
          </p:cNvPr>
          <p:cNvSpPr txBox="1"/>
          <p:nvPr/>
        </p:nvSpPr>
        <p:spPr>
          <a:xfrm>
            <a:off x="8314632" y="7040880"/>
            <a:ext cx="7040880" cy="4023360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defTabSz="1828800" hangingPunct="1"/>
            <a:r>
              <a:rPr lang="en-GB" u="sng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Immediate Action 2</a:t>
            </a:r>
          </a:p>
          <a:p>
            <a:pPr algn="l" defTabSz="1828800" hangingPunct="1"/>
            <a:endParaRPr lang="en-GB" sz="3600" b="0" kern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2800" dirty="0">
                <a:solidFill>
                  <a:schemeClr val="bg1"/>
                </a:solidFill>
              </a:rPr>
              <a:t>Remove ZIP before next training</a:t>
            </a:r>
          </a:p>
          <a:p>
            <a:pPr algn="l"/>
            <a:endParaRPr lang="en-GB" sz="2800" dirty="0">
              <a:solidFill>
                <a:schemeClr val="bg1"/>
              </a:solidFill>
            </a:endParaRPr>
          </a:p>
          <a:p>
            <a:pPr algn="l"/>
            <a:r>
              <a:rPr lang="en-GB" sz="2800" dirty="0">
                <a:solidFill>
                  <a:schemeClr val="bg1"/>
                </a:solidFill>
              </a:rPr>
              <a:t>Run DI monitoring with threshold 0.80</a:t>
            </a:r>
          </a:p>
        </p:txBody>
      </p:sp>
      <p:sp>
        <p:nvSpPr>
          <p:cNvPr id="11" name="ActionBox">
            <a:extLst>
              <a:ext uri="{FF2B5EF4-FFF2-40B4-BE49-F238E27FC236}">
                <a16:creationId xmlns:a16="http://schemas.microsoft.com/office/drawing/2014/main" id="{699BCF85-9488-C9DD-4AE4-90317808442B}"/>
              </a:ext>
            </a:extLst>
          </p:cNvPr>
          <p:cNvSpPr txBox="1"/>
          <p:nvPr/>
        </p:nvSpPr>
        <p:spPr>
          <a:xfrm>
            <a:off x="15927912" y="6944900"/>
            <a:ext cx="7040880" cy="4023360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defTabSz="1828800" hangingPunct="1"/>
            <a:r>
              <a:rPr lang="en-GB" u="sng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Immediate Action 3</a:t>
            </a:r>
          </a:p>
          <a:p>
            <a:pPr algn="l" defTabSz="1828800" hangingPunct="1"/>
            <a:endParaRPr lang="en-GB" sz="3600" b="0" kern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2800" dirty="0">
                <a:solidFill>
                  <a:schemeClr val="bg1"/>
                </a:solidFill>
              </a:rPr>
              <a:t>Implement audit logging + human oversight (GDPR Art. 22)</a:t>
            </a:r>
          </a:p>
          <a:p>
            <a:pPr algn="l"/>
            <a:endParaRPr lang="en-GB" sz="2800" dirty="0">
              <a:solidFill>
                <a:schemeClr val="bg1"/>
              </a:solidFill>
            </a:endParaRPr>
          </a:p>
          <a:p>
            <a:pPr algn="l"/>
            <a:r>
              <a:rPr lang="en-GB" sz="2800" dirty="0">
                <a:solidFill>
                  <a:schemeClr val="bg1"/>
                </a:solidFill>
              </a:rPr>
              <a:t>Add consent tracking + transparency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11ACAE-B7CA-D81E-21C7-ED3BF41EF837}"/>
              </a:ext>
            </a:extLst>
          </p:cNvPr>
          <p:cNvSpPr txBox="1"/>
          <p:nvPr/>
        </p:nvSpPr>
        <p:spPr>
          <a:xfrm>
            <a:off x="621792" y="1630587"/>
            <a:ext cx="18192481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 pitchFamily="2" charset="77"/>
                <a:sym typeface="Helvetica Neue"/>
              </a:rPr>
              <a:t>NovaCred</a:t>
            </a:r>
            <a:r>
              <a:rPr kumimoji="0" lang="en-GB" sz="6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 pitchFamily="2" charset="77"/>
                <a:sym typeface="Helvetica Neue"/>
              </a:rPr>
              <a:t> Must Act Now — The Evidence Is Clear</a:t>
            </a:r>
          </a:p>
        </p:txBody>
      </p:sp>
      <p:sp>
        <p:nvSpPr>
          <p:cNvPr id="16" name="ActionBox">
            <a:extLst>
              <a:ext uri="{FF2B5EF4-FFF2-40B4-BE49-F238E27FC236}">
                <a16:creationId xmlns:a16="http://schemas.microsoft.com/office/drawing/2014/main" id="{7880172F-F19E-3D33-68AA-B6FD7DC5FD5C}"/>
              </a:ext>
            </a:extLst>
          </p:cNvPr>
          <p:cNvSpPr txBox="1"/>
          <p:nvPr/>
        </p:nvSpPr>
        <p:spPr>
          <a:xfrm>
            <a:off x="621792" y="10501257"/>
            <a:ext cx="22426560" cy="1087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anchor="ctr">
            <a:normAutofit/>
          </a:bodyPr>
          <a:lstStyle/>
          <a:p>
            <a:pPr defTabSz="1828800" hangingPunct="1"/>
            <a:r>
              <a:rPr lang="en-GB" sz="3600" u="sng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 live only when DI &gt; 0.80 and Governance </a:t>
            </a:r>
            <a:r>
              <a:rPr lang="en-GB" sz="3600" u="sng" kern="1200" dirty="0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Meassures</a:t>
            </a:r>
            <a:r>
              <a:rPr lang="en-GB" sz="3600" u="sng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are implemented!</a:t>
            </a:r>
            <a:endParaRPr lang="en-GB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81584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Title"/>
          <p:cNvSpPr txBox="1"/>
          <p:nvPr/>
        </p:nvSpPr>
        <p:spPr>
          <a:xfrm>
            <a:off x="438912" y="731520"/>
            <a:ext cx="231343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4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CONCLUSION</a:t>
            </a:r>
          </a:p>
        </p:txBody>
      </p:sp>
      <p:sp>
        <p:nvSpPr>
          <p:cNvPr id="3" name="ConcMainTitle"/>
          <p:cNvSpPr txBox="1"/>
          <p:nvPr/>
        </p:nvSpPr>
        <p:spPr>
          <a:xfrm>
            <a:off x="621792" y="2194560"/>
            <a:ext cx="231343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6400" b="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NovaCred Must Act Now — The Evidence Is Clear</a:t>
            </a:r>
          </a:p>
        </p:txBody>
      </p:sp>
      <p:sp>
        <p:nvSpPr>
          <p:cNvPr id="10" name="WStat10"/>
          <p:cNvSpPr txBox="1"/>
          <p:nvPr/>
        </p:nvSpPr>
        <p:spPr>
          <a:xfrm>
            <a:off x="621792" y="4206240"/>
            <a:ext cx="7040880" cy="2377440"/>
          </a:xfrm>
          <a:prstGeom prst="rect">
            <a:avLst/>
          </a:prstGeom>
          <a:solidFill>
            <a:srgbClr val="232323"/>
          </a:solidFill>
        </p:spPr>
        <p:txBody>
          <a:bodyPr wrap="square" lIns="329184" tIns="274320" rIns="329184" bIns="182880">
            <a:normAutofit/>
          </a:bodyPr>
          <a:lstStyle/>
          <a:p>
            <a:pPr algn="l" defTabSz="1828800" hangingPunct="1"/>
            <a:r>
              <a:rPr lang="en-GB" sz="8000" kern="1200" dirty="0">
                <a:solidFill>
                  <a:srgbClr val="E05070"/>
                </a:solidFill>
                <a:latin typeface="Aptos" panose="02110004020202020204"/>
                <a:ea typeface="+mn-ea"/>
                <a:cs typeface="+mn-cs"/>
              </a:rPr>
              <a:t>0.77</a:t>
            </a:r>
          </a:p>
          <a:p>
            <a:pPr algn="l" defTabSz="1828800" hangingPunct="1"/>
            <a:r>
              <a:rPr lang="en-GB" sz="2100" b="0" kern="1200" dirty="0">
                <a:solidFill>
                  <a:srgbClr val="CCCCCC"/>
                </a:solidFill>
                <a:latin typeface="Aptos" panose="02110004020202020204"/>
                <a:ea typeface="+mn-ea"/>
                <a:cs typeface="+mn-cs"/>
              </a:rPr>
              <a:t>Gender DI — Below Legal Threshold</a:t>
            </a:r>
          </a:p>
        </p:txBody>
      </p:sp>
      <p:sp>
        <p:nvSpPr>
          <p:cNvPr id="11" name="WStat11"/>
          <p:cNvSpPr txBox="1"/>
          <p:nvPr/>
        </p:nvSpPr>
        <p:spPr>
          <a:xfrm>
            <a:off x="8028432" y="4206240"/>
            <a:ext cx="7040880" cy="2377440"/>
          </a:xfrm>
          <a:prstGeom prst="rect">
            <a:avLst/>
          </a:prstGeom>
          <a:solidFill>
            <a:srgbClr val="232323"/>
          </a:solidFill>
        </p:spPr>
        <p:txBody>
          <a:bodyPr wrap="square" lIns="329184" tIns="274320" rIns="329184" bIns="182880">
            <a:normAutofit/>
          </a:bodyPr>
          <a:lstStyle/>
          <a:p>
            <a:pPr algn="l" defTabSz="1828800" hangingPunct="1"/>
            <a:r>
              <a:rPr lang="en-GB" sz="8000" kern="1200" dirty="0">
                <a:solidFill>
                  <a:srgbClr val="E05070"/>
                </a:solidFill>
                <a:latin typeface="Aptos" panose="02110004020202020204"/>
                <a:ea typeface="+mn-ea"/>
                <a:cs typeface="+mn-cs"/>
              </a:rPr>
              <a:t>0.62</a:t>
            </a:r>
          </a:p>
          <a:p>
            <a:pPr algn="l" defTabSz="1828800" hangingPunct="1"/>
            <a:r>
              <a:rPr lang="en-GB" sz="2100" b="0" kern="1200" dirty="0">
                <a:solidFill>
                  <a:srgbClr val="CCCCCC"/>
                </a:solidFill>
                <a:latin typeface="Aptos" panose="02110004020202020204"/>
                <a:ea typeface="+mn-ea"/>
                <a:cs typeface="+mn-cs"/>
              </a:rPr>
              <a:t>Age DI (Under-30s vs 30-50)</a:t>
            </a:r>
          </a:p>
        </p:txBody>
      </p:sp>
      <p:sp>
        <p:nvSpPr>
          <p:cNvPr id="12" name="WStat12"/>
          <p:cNvSpPr txBox="1"/>
          <p:nvPr/>
        </p:nvSpPr>
        <p:spPr>
          <a:xfrm>
            <a:off x="15435072" y="4206240"/>
            <a:ext cx="7040880" cy="2377440"/>
          </a:xfrm>
          <a:prstGeom prst="rect">
            <a:avLst/>
          </a:prstGeom>
          <a:solidFill>
            <a:srgbClr val="232323"/>
          </a:solidFill>
        </p:spPr>
        <p:txBody>
          <a:bodyPr wrap="square" lIns="329184" tIns="274320" rIns="329184" bIns="182880">
            <a:normAutofit/>
          </a:bodyPr>
          <a:lstStyle/>
          <a:p>
            <a:pPr algn="l" defTabSz="1828800" hangingPunct="1"/>
            <a:r>
              <a:rPr lang="en-GB" sz="8000" kern="1200" dirty="0">
                <a:solidFill>
                  <a:srgbClr val="E05070"/>
                </a:solidFill>
                <a:latin typeface="Aptos" panose="02110004020202020204"/>
                <a:ea typeface="+mn-ea"/>
                <a:cs typeface="+mn-cs"/>
              </a:rPr>
              <a:t>0 / 500</a:t>
            </a:r>
          </a:p>
          <a:p>
            <a:pPr algn="l" defTabSz="1828800" hangingPunct="1"/>
            <a:r>
              <a:rPr lang="en-GB" sz="2100" b="0" kern="1200" dirty="0">
                <a:solidFill>
                  <a:srgbClr val="CCCCCC"/>
                </a:solidFill>
                <a:latin typeface="Aptos" panose="02110004020202020204"/>
                <a:ea typeface="+mn-ea"/>
                <a:cs typeface="+mn-cs"/>
              </a:rPr>
              <a:t>Records With Consent Field</a:t>
            </a:r>
          </a:p>
        </p:txBody>
      </p:sp>
      <p:sp>
        <p:nvSpPr>
          <p:cNvPr id="20" name="ActionBox"/>
          <p:cNvSpPr txBox="1"/>
          <p:nvPr/>
        </p:nvSpPr>
        <p:spPr>
          <a:xfrm>
            <a:off x="621792" y="7040880"/>
            <a:ext cx="7040880" cy="4023360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algn="l" defTabSz="1828800" hangingPunct="1"/>
            <a:r>
              <a:rPr lang="en-GB" sz="23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Immediate Action 1</a:t>
            </a:r>
          </a:p>
          <a:p>
            <a:pPr algn="l" defTabSz="1828800" hangingPunct="1"/>
            <a:endParaRPr lang="en-GB" sz="3600" b="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2100" b="0" kern="1200" dirty="0">
                <a:solidFill>
                  <a:srgbClr val="AAAAAA"/>
                </a:solidFill>
                <a:latin typeface="Aptos" panose="02110004020202020204"/>
                <a:ea typeface="+mn-ea"/>
                <a:cs typeface="+mn-cs"/>
              </a:rPr>
              <a:t>Remove or coarsen ZIP code from model features before next training run. ZIP = 0.63 Cramer’s V with gender — it reproduces discrimination.</a:t>
            </a:r>
          </a:p>
        </p:txBody>
      </p:sp>
      <p:sp>
        <p:nvSpPr>
          <p:cNvPr id="4" name="ActionBox"/>
          <p:cNvSpPr txBox="1"/>
          <p:nvPr/>
        </p:nvSpPr>
        <p:spPr>
          <a:xfrm>
            <a:off x="8028432" y="7040880"/>
            <a:ext cx="7040880" cy="4023360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algn="l" defTabSz="1828800" hangingPunct="1"/>
            <a:r>
              <a:rPr lang="en-GB" sz="23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Immediate Action 2</a:t>
            </a:r>
          </a:p>
          <a:p>
            <a:pPr algn="l" defTabSz="1828800" hangingPunct="1"/>
            <a:endParaRPr lang="en-GB" sz="3600" b="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2100" b="0" kern="1200" dirty="0">
                <a:solidFill>
                  <a:srgbClr val="AAAAAA"/>
                </a:solidFill>
                <a:latin typeface="Aptos" panose="02110004020202020204"/>
                <a:ea typeface="+mn-ea"/>
                <a:cs typeface="+mn-cs"/>
              </a:rPr>
              <a:t>Implement quarterly DI monitoring (threshold: 0.80). Add consent tracking field to all new applications before processing.</a:t>
            </a:r>
          </a:p>
        </p:txBody>
      </p:sp>
      <p:sp>
        <p:nvSpPr>
          <p:cNvPr id="5" name="ActionBox"/>
          <p:cNvSpPr txBox="1"/>
          <p:nvPr/>
        </p:nvSpPr>
        <p:spPr>
          <a:xfrm>
            <a:off x="15435072" y="7040880"/>
            <a:ext cx="7040880" cy="4023360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algn="l" defTabSz="1828800" hangingPunct="1"/>
            <a:r>
              <a:rPr lang="en-GB" sz="23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Immediate Action 3</a:t>
            </a:r>
          </a:p>
          <a:p>
            <a:pPr algn="l" defTabSz="1828800" hangingPunct="1"/>
            <a:endParaRPr lang="en-GB" sz="3600" b="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2100" b="0" kern="1200" dirty="0">
                <a:solidFill>
                  <a:srgbClr val="AAAAAA"/>
                </a:solidFill>
                <a:latin typeface="Aptos" panose="02110004020202020204"/>
                <a:ea typeface="+mn-ea"/>
                <a:cs typeface="+mn-cs"/>
              </a:rPr>
              <a:t>Deploy audit trail + human oversight mechanism. Required for EU AI Act conformity assessment before production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73120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02228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23107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704795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839283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242289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781013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285181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154756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7" name="Text Placeholder 46"/>
          <p:cNvSpPr>
            <a:spLocks noGrp="1"/>
          </p:cNvSpPr>
          <p:nvPr>
            <p:ph type="body" sz="quarter" idx="17"/>
          </p:nvPr>
        </p:nvSpPr>
        <p:spPr>
          <a:xfrm>
            <a:off x="14329037" y="2792655"/>
            <a:ext cx="9093290" cy="8431773"/>
          </a:xfrm>
        </p:spPr>
        <p:txBody>
          <a:bodyPr/>
          <a:lstStyle/>
          <a:p>
            <a:pPr marL="342900" indent="-342900">
              <a:buBlip>
                <a:blip r:embed="rId2"/>
              </a:buBlip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784771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17167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3583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1405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98817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51861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28678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90203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74705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itl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ontent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Quotes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Endpag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989962EFFA0B44BBD16D47961DAEDC" ma:contentTypeVersion="13" ma:contentTypeDescription="Create a new document." ma:contentTypeScope="" ma:versionID="081dd02e953cf7db76151fedcf2e2ffb">
  <xsd:schema xmlns:xsd="http://www.w3.org/2001/XMLSchema" xmlns:xs="http://www.w3.org/2001/XMLSchema" xmlns:p="http://schemas.microsoft.com/office/2006/metadata/properties" xmlns:ns2="8ccdf5c7-0a8e-4e22-b976-0cacd57571bc" xmlns:ns3="1122a942-73f4-4892-aecc-13fb4e438a75" targetNamespace="http://schemas.microsoft.com/office/2006/metadata/properties" ma:root="true" ma:fieldsID="2cbb12f7c2d4dca39965f2b9a244148b" ns2:_="" ns3:_="">
    <xsd:import namespace="8ccdf5c7-0a8e-4e22-b976-0cacd57571bc"/>
    <xsd:import namespace="1122a942-73f4-4892-aecc-13fb4e438a7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cdf5c7-0a8e-4e22-b976-0cacd57571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c8ad37e-d428-43f2-833b-a836f20975d8}" ma:internalName="TaxCatchAll" ma:showField="CatchAllData" ma:web="8ccdf5c7-0a8e-4e22-b976-0cacd57571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22a942-73f4-4892-aecc-13fb4e438a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e61ed8-ab36-43ce-957d-34469eb19a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122a942-73f4-4892-aecc-13fb4e438a75">
      <Terms xmlns="http://schemas.microsoft.com/office/infopath/2007/PartnerControls"/>
    </lcf76f155ced4ddcb4097134ff3c332f>
    <TaxCatchAll xmlns="8ccdf5c7-0a8e-4e22-b976-0cacd57571b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B82B14-B705-43FB-AF41-E76B2178F8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cdf5c7-0a8e-4e22-b976-0cacd57571bc"/>
    <ds:schemaRef ds:uri="1122a942-73f4-4892-aecc-13fb4e438a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FDBDC25-3209-4E04-8C17-E545D50F58FD}">
  <ds:schemaRefs>
    <ds:schemaRef ds:uri="http://purl.org/dc/terms/"/>
    <ds:schemaRef ds:uri="http://schemas.microsoft.com/office/2006/metadata/properties"/>
    <ds:schemaRef ds:uri="http://purl.org/dc/dcmitype/"/>
    <ds:schemaRef ds:uri="8ccdf5c7-0a8e-4e22-b976-0cacd57571bc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122a942-73f4-4892-aecc-13fb4e438a75"/>
  </ds:schemaRefs>
</ds:datastoreItem>
</file>

<file path=customXml/itemProps3.xml><?xml version="1.0" encoding="utf-8"?>
<ds:datastoreItem xmlns:ds="http://schemas.openxmlformats.org/officeDocument/2006/customXml" ds:itemID="{6DE51284-4D76-45F1-A51B-2400D04F50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2119</TotalTime>
  <Words>969</Words>
  <Application>Microsoft Macintosh PowerPoint</Application>
  <PresentationFormat>Custom</PresentationFormat>
  <Paragraphs>166</Paragraphs>
  <Slides>27</Slides>
  <Notes>4</Notes>
  <HiddenSlides>20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Aptos</vt:lpstr>
      <vt:lpstr>Aptos Display</vt:lpstr>
      <vt:lpstr>Arial</vt:lpstr>
      <vt:lpstr>Consolas</vt:lpstr>
      <vt:lpstr>Helvetica Neue</vt:lpstr>
      <vt:lpstr>Helvetica Neue Medium</vt:lpstr>
      <vt:lpstr>Open Sans</vt:lpstr>
      <vt:lpstr>Open Sans </vt:lpstr>
      <vt:lpstr>Playfair Display</vt:lpstr>
      <vt:lpstr>Title</vt:lpstr>
      <vt:lpstr>Content</vt:lpstr>
      <vt:lpstr>Quotes</vt:lpstr>
      <vt:lpstr>Endpage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 Castela</dc:creator>
  <cp:lastModifiedBy>Leon Schmidt</cp:lastModifiedBy>
  <cp:revision>45</cp:revision>
  <cp:lastPrinted>2018-07-19T09:42:38Z</cp:lastPrinted>
  <dcterms:modified xsi:type="dcterms:W3CDTF">2026-03-07T00:32:51Z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0x01010080989962EFFA0B44BBD16D47961DAEDC</vt:lpwstr>
  </property>
</Properties>
</file>